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7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93"/>
  </p:normalViewPr>
  <p:slideViewPr>
    <p:cSldViewPr snapToGrid="0">
      <p:cViewPr varScale="1">
        <p:scale>
          <a:sx n="86" d="100"/>
          <a:sy n="86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383B-F179-68D9-FCF1-D430079A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F9615-7330-E93B-6EE1-633D83410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A3EB0-A0AE-1606-705B-64C448F23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AF0D6-5226-B85C-A95E-8398E976963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2810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E6B96-CF3E-86D5-1C2F-A23BE2A08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C9493-6AE9-9ECA-F4EC-43489233C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877B6-C883-5F0B-5F88-DD916F5A0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653EF-50BB-97D4-368E-5AC1DF5D6BD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3390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「위치 기반 실종 시민 제보망 제안서」</a:t>
            </a:r>
          </a:p>
          <a:p>
            <a:r>
              <a:t>- 사용자 제공 Safe182 API 샘플 및 실종검색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0DB821-152E-4652-A987-6FDE8C1E665F}"/>
              </a:ext>
            </a:extLst>
          </p:cNvPr>
          <p:cNvSpPr>
            <a:spLocks noGrp="1"/>
          </p:cNvSpPr>
          <p:nvPr/>
        </p:nvSpPr>
        <p:spPr>
          <a:xfrm>
            <a:off x="400050" y="393996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36BFA6"/>
                </a:solidFill>
              </a:defRPr>
            </a:pPr>
            <a:r>
              <a:rPr sz="1125" b="1" dirty="0">
                <a:solidFill>
                  <a:srgbClr val="36BFA6"/>
                </a:solidFill>
              </a:rPr>
              <a:t>CODEX COMMUNITY HACKATHON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7CBF12-756F-4E2C-BAC5-58D5B367DF89}"/>
              </a:ext>
            </a:extLst>
          </p:cNvPr>
          <p:cNvSpPr>
            <a:spLocks noGrp="1"/>
          </p:cNvSpPr>
          <p:nvPr/>
        </p:nvSpPr>
        <p:spPr>
          <a:xfrm>
            <a:off x="495300" y="3733800"/>
            <a:ext cx="679132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825" b="1">
                <a:solidFill>
                  <a:srgbClr val="0D3148"/>
                </a:solidFill>
              </a:defRPr>
            </a:pPr>
            <a:r>
              <a:rPr sz="3825" b="1" dirty="0" err="1">
                <a:solidFill>
                  <a:srgbClr val="0D3148"/>
                </a:solidFill>
              </a:rPr>
              <a:t>실종</a:t>
            </a:r>
            <a:r>
              <a:rPr sz="3825" b="1" dirty="0">
                <a:solidFill>
                  <a:srgbClr val="0D3148"/>
                </a:solidFill>
              </a:rPr>
              <a:t> </a:t>
            </a:r>
            <a:r>
              <a:rPr sz="3825" b="1" dirty="0" err="1">
                <a:solidFill>
                  <a:srgbClr val="0D3148"/>
                </a:solidFill>
              </a:rPr>
              <a:t>안내는</a:t>
            </a:r>
            <a:endParaRPr sz="3825" b="1" dirty="0">
              <a:solidFill>
                <a:srgbClr val="0D3148"/>
              </a:solidFill>
            </a:endParaRPr>
          </a:p>
          <a:p>
            <a:pPr algn="l">
              <a:defRPr sz="3825" b="1">
                <a:solidFill>
                  <a:srgbClr val="0D3148"/>
                </a:solidFill>
              </a:defRPr>
            </a:pPr>
            <a:r>
              <a:rPr sz="3825" b="1" dirty="0" err="1">
                <a:solidFill>
                  <a:srgbClr val="0D3148"/>
                </a:solidFill>
              </a:rPr>
              <a:t>도착하는</a:t>
            </a:r>
            <a:r>
              <a:rPr sz="3825" b="1" dirty="0">
                <a:solidFill>
                  <a:srgbClr val="0D3148"/>
                </a:solidFill>
              </a:rPr>
              <a:t> </a:t>
            </a:r>
            <a:r>
              <a:rPr sz="3825" b="1" dirty="0" err="1">
                <a:solidFill>
                  <a:srgbClr val="0D3148"/>
                </a:solidFill>
              </a:rPr>
              <a:t>것만으로</a:t>
            </a:r>
            <a:r>
              <a:rPr sz="3825" b="1" dirty="0">
                <a:solidFill>
                  <a:srgbClr val="0D3148"/>
                </a:solidFill>
              </a:rPr>
              <a:t> </a:t>
            </a:r>
            <a:r>
              <a:rPr sz="3825" b="1" dirty="0" err="1">
                <a:solidFill>
                  <a:srgbClr val="0D3148"/>
                </a:solidFill>
              </a:rPr>
              <a:t>충분하지</a:t>
            </a:r>
            <a:r>
              <a:rPr sz="3825" b="1" dirty="0">
                <a:solidFill>
                  <a:srgbClr val="0D3148"/>
                </a:solidFill>
              </a:rPr>
              <a:t> </a:t>
            </a:r>
            <a:r>
              <a:rPr sz="3825" b="1" dirty="0" err="1">
                <a:solidFill>
                  <a:srgbClr val="0D3148"/>
                </a:solidFill>
              </a:rPr>
              <a:t>않습니다</a:t>
            </a:r>
            <a:r>
              <a:rPr sz="3825" b="1" dirty="0">
                <a:solidFill>
                  <a:srgbClr val="0D3148"/>
                </a:solidFill>
              </a:rPr>
              <a:t>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EB76963-1678-4A65-8709-2BA7F3246ACB}"/>
              </a:ext>
            </a:extLst>
          </p:cNvPr>
          <p:cNvSpPr>
            <a:spLocks noGrp="1"/>
          </p:cNvSpPr>
          <p:nvPr/>
        </p:nvSpPr>
        <p:spPr>
          <a:xfrm>
            <a:off x="450470" y="1419731"/>
            <a:ext cx="4960662" cy="1827944"/>
          </a:xfrm>
          <a:prstGeom prst="roundRect">
            <a:avLst>
              <a:gd name="adj" fmla="val 50000"/>
            </a:avLst>
          </a:prstGeom>
          <a:solidFill>
            <a:srgbClr val="EAF6F3"/>
          </a:solidFill>
          <a:ln w="9525">
            <a:solidFill>
              <a:srgbClr val="EAF6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662BA3-1271-4E47-BFB4-5BF77A112F35}"/>
              </a:ext>
            </a:extLst>
          </p:cNvPr>
          <p:cNvSpPr>
            <a:spLocks noGrp="1"/>
          </p:cNvSpPr>
          <p:nvPr/>
        </p:nvSpPr>
        <p:spPr>
          <a:xfrm>
            <a:off x="314324" y="1506970"/>
            <a:ext cx="5158823" cy="16534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D3148"/>
                </a:solidFill>
              </a:defRPr>
            </a:pPr>
            <a:r>
              <a:rPr sz="9600" b="1" dirty="0" err="1">
                <a:solidFill>
                  <a:srgbClr val="0D3148"/>
                </a:solidFill>
              </a:rPr>
              <a:t>NearFind</a:t>
            </a:r>
            <a:endParaRPr sz="9600" b="1" dirty="0">
              <a:solidFill>
                <a:srgbClr val="0D3148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A7FDB33-EF1F-438A-9C5E-BCC8C251A93D}"/>
              </a:ext>
            </a:extLst>
          </p:cNvPr>
          <p:cNvSpPr>
            <a:spLocks noGrp="1"/>
          </p:cNvSpPr>
          <p:nvPr/>
        </p:nvSpPr>
        <p:spPr>
          <a:xfrm>
            <a:off x="7829550" y="1257300"/>
            <a:ext cx="2857500" cy="3524250"/>
          </a:xfrm>
          <a:prstGeom prst="roundRect">
            <a:avLst>
              <a:gd name="adj" fmla="val 8000"/>
            </a:avLst>
          </a:prstGeom>
          <a:solidFill>
            <a:srgbClr val="DDF4EF"/>
          </a:solidFill>
          <a:ln w="9525">
            <a:solidFill>
              <a:srgbClr val="DDF4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2EBD3F17-D0E9-4799-BF71-23CD3A674237}"/>
              </a:ext>
            </a:extLst>
          </p:cNvPr>
          <p:cNvSpPr>
            <a:spLocks noGrp="1"/>
          </p:cNvSpPr>
          <p:nvPr/>
        </p:nvSpPr>
        <p:spPr>
          <a:xfrm>
            <a:off x="8334375" y="1752600"/>
            <a:ext cx="1809750" cy="2381250"/>
          </a:xfrm>
          <a:prstGeom prst="line">
            <a:avLst/>
          </a:prstGeom>
          <a:noFill/>
          <a:ln w="95250">
            <a:solidFill>
              <a:srgbClr val="B8E2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BCE03B67-20C9-44B9-B95A-3EEF329B3F86}"/>
              </a:ext>
            </a:extLst>
          </p:cNvPr>
          <p:cNvSpPr>
            <a:spLocks noGrp="1"/>
          </p:cNvSpPr>
          <p:nvPr/>
        </p:nvSpPr>
        <p:spPr>
          <a:xfrm>
            <a:off x="8143875" y="2381250"/>
            <a:ext cx="2190750" cy="1143000"/>
          </a:xfrm>
          <a:prstGeom prst="line">
            <a:avLst/>
          </a:prstGeom>
          <a:noFill/>
          <a:ln w="95250">
            <a:solidFill>
              <a:srgbClr val="B8E2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386E78A-33D5-42F6-9984-971902378C59}"/>
              </a:ext>
            </a:extLst>
          </p:cNvPr>
          <p:cNvSpPr>
            <a:spLocks noGrp="1"/>
          </p:cNvSpPr>
          <p:nvPr/>
        </p:nvSpPr>
        <p:spPr>
          <a:xfrm>
            <a:off x="9077325" y="2571750"/>
            <a:ext cx="781050" cy="781050"/>
          </a:xfrm>
          <a:prstGeom prst="ellipse">
            <a:avLst/>
          </a:prstGeom>
          <a:solidFill>
            <a:srgbClr val="FFD8D2"/>
          </a:solidFill>
          <a:ln w="0">
            <a:solidFill>
              <a:srgbClr val="FFD8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AD0966D-77DC-4CAD-9A63-6679CCE81859}"/>
              </a:ext>
            </a:extLst>
          </p:cNvPr>
          <p:cNvSpPr>
            <a:spLocks noGrp="1"/>
          </p:cNvSpPr>
          <p:nvPr/>
        </p:nvSpPr>
        <p:spPr>
          <a:xfrm>
            <a:off x="9267825" y="2762250"/>
            <a:ext cx="400050" cy="400050"/>
          </a:xfrm>
          <a:prstGeom prst="ellipse">
            <a:avLst/>
          </a:prstGeom>
          <a:solidFill>
            <a:srgbClr val="EE7567"/>
          </a:solidFill>
          <a:ln w="0">
            <a:solidFill>
              <a:srgbClr val="EE75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C72D489-0124-48D9-9C27-35824C00C01C}"/>
              </a:ext>
            </a:extLst>
          </p:cNvPr>
          <p:cNvSpPr>
            <a:spLocks noGrp="1"/>
          </p:cNvSpPr>
          <p:nvPr/>
        </p:nvSpPr>
        <p:spPr>
          <a:xfrm>
            <a:off x="9391650" y="2886075"/>
            <a:ext cx="152400" cy="15240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6D79929-9261-4D7F-B4EA-6EF12FF4101D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2333625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02D711-ADB9-41ED-88B7-4CECA21C46A0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D3148"/>
                </a:solidFill>
              </a:defRPr>
            </a:pPr>
            <a:r>
              <a:rPr sz="1125" b="1">
                <a:solidFill>
                  <a:srgbClr val="0D3148"/>
                </a:solidFill>
              </a:rPr>
              <a:t>이 근처에서 확인해 주세요</a:t>
            </a:r>
          </a:p>
        </p:txBody>
      </p:sp>
      <p:sp>
        <p:nvSpPr>
          <p:cNvPr id="14" name="직선 연결선[R] 13">
            <a:extLst>
              <a:ext uri="{FF2B5EF4-FFF2-40B4-BE49-F238E27FC236}">
                <a16:creationId xmlns:a16="http://schemas.microsoft.com/office/drawing/2014/main" id="{EF45891A-A2C9-417D-9FB6-24FA7DC3A78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7E33E3-3BC0-4617-8D6A-FF169C7EB0C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09AEEF-731E-4FEF-BE47-29820345EE15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1/9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6260662-153F-45C1-BB13-56554AE7C5B4}"/>
              </a:ext>
            </a:extLst>
          </p:cNvPr>
          <p:cNvSpPr>
            <a:spLocks noGrp="1"/>
          </p:cNvSpPr>
          <p:nvPr/>
        </p:nvSpPr>
        <p:spPr>
          <a:xfrm>
            <a:off x="400050" y="604115"/>
            <a:ext cx="3429000" cy="247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D3148"/>
                </a:solidFill>
              </a:defRPr>
            </a:pPr>
            <a:r>
              <a:rPr sz="1600" b="1" dirty="0">
                <a:solidFill>
                  <a:srgbClr val="0D3148"/>
                </a:solidFill>
              </a:rPr>
              <a:t>13팀</a:t>
            </a:r>
            <a:r>
              <a:rPr lang="ko-KR" altLang="en-US" sz="1600" b="1" dirty="0">
                <a:solidFill>
                  <a:srgbClr val="0D3148"/>
                </a:solidFill>
              </a:rPr>
              <a:t> 박준석</a:t>
            </a:r>
            <a:r>
              <a:rPr lang="en-US" altLang="ko-KR" sz="1600" b="1" dirty="0">
                <a:solidFill>
                  <a:srgbClr val="0D3148"/>
                </a:solidFill>
              </a:rPr>
              <a:t>,</a:t>
            </a:r>
            <a:r>
              <a:rPr lang="ko-KR" altLang="en-US" sz="1600" b="1" dirty="0">
                <a:solidFill>
                  <a:srgbClr val="0D3148"/>
                </a:solidFill>
              </a:rPr>
              <a:t> </a:t>
            </a:r>
            <a:r>
              <a:rPr lang="ko-KR" altLang="en-US" sz="1600" b="1" dirty="0" err="1">
                <a:solidFill>
                  <a:srgbClr val="0D3148"/>
                </a:solidFill>
              </a:rPr>
              <a:t>서인교</a:t>
            </a:r>
            <a:r>
              <a:rPr lang="en-US" altLang="ko-KR" sz="1600" b="1" dirty="0">
                <a:solidFill>
                  <a:srgbClr val="0D3148"/>
                </a:solidFill>
              </a:rPr>
              <a:t>,</a:t>
            </a:r>
            <a:r>
              <a:rPr lang="ko-KR" altLang="en-US" sz="1600" b="1" dirty="0">
                <a:solidFill>
                  <a:srgbClr val="0D3148"/>
                </a:solidFill>
              </a:rPr>
              <a:t> 이윤지</a:t>
            </a:r>
            <a:r>
              <a:rPr lang="en-US" altLang="ko-KR" sz="1600" b="1" dirty="0">
                <a:solidFill>
                  <a:srgbClr val="0D3148"/>
                </a:solidFill>
              </a:rPr>
              <a:t>,</a:t>
            </a:r>
            <a:r>
              <a:rPr lang="ko-KR" altLang="en-US" sz="1600" b="1" dirty="0">
                <a:solidFill>
                  <a:srgbClr val="0D3148"/>
                </a:solidFill>
              </a:rPr>
              <a:t> 변유진</a:t>
            </a:r>
            <a:endParaRPr sz="1600" b="1" dirty="0">
              <a:solidFill>
                <a:srgbClr val="0D31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217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F4F470-83BB-44E4-8E3E-340E91B8B7E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BFA6"/>
                </a:solidFill>
              </a:defRPr>
            </a:pPr>
            <a:r>
              <a:rPr sz="975" b="1">
                <a:solidFill>
                  <a:srgbClr val="36BFA6"/>
                </a:solidFill>
              </a:rPr>
              <a:t>NEARFIND / 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4709F0-B64D-44D9-97E6-86E32DAEC369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0D3148"/>
                </a:solidFill>
              </a:defRPr>
            </a:pPr>
            <a:r>
              <a:rPr lang="ko-KR" altLang="en-US" sz="4800" b="1" dirty="0">
                <a:solidFill>
                  <a:srgbClr val="0D3148"/>
                </a:solidFill>
              </a:rPr>
              <a:t>목차</a:t>
            </a:r>
            <a:endParaRPr sz="2775" b="1" dirty="0">
              <a:solidFill>
                <a:srgbClr val="0D3148"/>
              </a:solidFill>
            </a:endParaRPr>
          </a:p>
        </p:txBody>
      </p:sp>
      <p:sp>
        <p:nvSpPr>
          <p:cNvPr id="19" name="직선 연결선[R] 18">
            <a:extLst>
              <a:ext uri="{FF2B5EF4-FFF2-40B4-BE49-F238E27FC236}">
                <a16:creationId xmlns:a16="http://schemas.microsoft.com/office/drawing/2014/main" id="{0FF50471-FF24-405A-A58B-B1B4ED1E420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3B3460-2BD0-4B1F-A18B-5EB81AE6E25F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75477AD-0636-4BF0-804F-76DA1FC18E7F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2/9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A12A7F-6924-5A8A-BAB0-BF4A922E4CD8}"/>
              </a:ext>
            </a:extLst>
          </p:cNvPr>
          <p:cNvSpPr txBox="1"/>
          <p:nvPr/>
        </p:nvSpPr>
        <p:spPr>
          <a:xfrm>
            <a:off x="1043957" y="1597702"/>
            <a:ext cx="6720947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sz="4000" b="1" dirty="0"/>
              <a:t>Pain Point</a:t>
            </a:r>
          </a:p>
          <a:p>
            <a:pPr marL="342900" indent="-342900">
              <a:buAutoNum type="arabicPeriod"/>
            </a:pPr>
            <a:r>
              <a:rPr kumimoji="1" lang="ko-KR" altLang="en-US" sz="4000" b="1" dirty="0"/>
              <a:t>해결책</a:t>
            </a:r>
            <a:endParaRPr kumimoji="1" lang="en-US" altLang="ko-KR" sz="4000" b="1" dirty="0"/>
          </a:p>
          <a:p>
            <a:pPr marL="342900" indent="-342900">
              <a:buAutoNum type="arabicPeriod"/>
            </a:pPr>
            <a:r>
              <a:rPr kumimoji="1" lang="en-US" altLang="ko-KR" sz="4000" b="1" dirty="0"/>
              <a:t>MVP </a:t>
            </a:r>
            <a:r>
              <a:rPr kumimoji="1" lang="ko-KR" altLang="en-US" sz="4000" b="1" dirty="0"/>
              <a:t>파이프라인</a:t>
            </a:r>
            <a:endParaRPr kumimoji="1" lang="en-US" altLang="ko-KR" sz="4000" b="1" dirty="0"/>
          </a:p>
          <a:p>
            <a:pPr marL="342900" indent="-342900">
              <a:buAutoNum type="arabicPeriod"/>
            </a:pPr>
            <a:r>
              <a:rPr kumimoji="1" lang="en-US" altLang="ko-KR" sz="4000" b="1" dirty="0"/>
              <a:t>MVP </a:t>
            </a:r>
            <a:r>
              <a:rPr kumimoji="1" lang="ko-KR" altLang="en-US" sz="4000" b="1" dirty="0"/>
              <a:t>구현</a:t>
            </a:r>
            <a:endParaRPr kumimoji="1" lang="en-US" altLang="ko-KR" sz="4000" b="1" dirty="0"/>
          </a:p>
          <a:p>
            <a:pPr marL="342900" indent="-342900">
              <a:buAutoNum type="arabicPeriod"/>
            </a:pPr>
            <a:r>
              <a:rPr kumimoji="1" lang="ko-KR" altLang="en-US" sz="4000" b="1" dirty="0"/>
              <a:t>데모영상</a:t>
            </a:r>
            <a:endParaRPr kumimoji="1" lang="en-US" altLang="ko-KR" sz="4000" b="1" dirty="0"/>
          </a:p>
          <a:p>
            <a:pPr marL="342900" indent="-342900">
              <a:buAutoNum type="arabicPeriod"/>
            </a:pPr>
            <a:r>
              <a:rPr kumimoji="1" lang="ko-KR" altLang="en-US" sz="4000" b="1" dirty="0"/>
              <a:t>공익적 가치</a:t>
            </a:r>
            <a:endParaRPr kumimoji="1" lang="en-US" altLang="ko-KR" sz="4000" b="1" dirty="0"/>
          </a:p>
          <a:p>
            <a:pPr marL="342900" indent="-342900">
              <a:buAutoNum type="arabicPeriod"/>
            </a:pPr>
            <a:endParaRPr kumimoji="1" lang="en-US" altLang="ko-KR" sz="4000" dirty="0"/>
          </a:p>
          <a:p>
            <a:pPr marL="342900" indent="-342900">
              <a:buAutoNum type="arabicPeriod"/>
            </a:pPr>
            <a:endParaRPr kumimoji="1" lang="en-US" altLang="ko-KR" sz="4000" dirty="0"/>
          </a:p>
          <a:p>
            <a:pPr marL="342900" indent="-342900">
              <a:buAutoNum type="arabicPeriod"/>
            </a:pPr>
            <a:endParaRPr kumimoji="1" lang="en-US" altLang="ko-KR" sz="4000" dirty="0"/>
          </a:p>
          <a:p>
            <a:pPr marL="342900" indent="-342900">
              <a:buAutoNum type="arabicPeriod"/>
            </a:pPr>
            <a:endParaRPr kumimoji="1" lang="en-US" altLang="ko-KR" sz="4000" dirty="0"/>
          </a:p>
          <a:p>
            <a:pPr marL="342900" indent="-342900">
              <a:buAutoNum type="arabicPeriod"/>
            </a:pPr>
            <a:endParaRPr kumimoji="1"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121306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B3496-7196-5A91-411D-FEBC59C2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4E8E1D-B646-909E-F1FC-C697E12DD55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BFA6"/>
                </a:solidFill>
              </a:defRPr>
            </a:pPr>
            <a:r>
              <a:rPr sz="975" b="1">
                <a:solidFill>
                  <a:srgbClr val="36BFA6"/>
                </a:solidFill>
              </a:rPr>
              <a:t>NEARFIND / 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472C7C-8B87-3681-9E68-D5F2DEBF0D69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0D3148"/>
                </a:solidFill>
              </a:defRPr>
            </a:pPr>
            <a:r>
              <a:rPr sz="2775" b="1" dirty="0" err="1">
                <a:solidFill>
                  <a:srgbClr val="0D3148"/>
                </a:solidFill>
              </a:rPr>
              <a:t>문제는</a:t>
            </a:r>
            <a:r>
              <a:rPr sz="2775" b="1" dirty="0">
                <a:solidFill>
                  <a:srgbClr val="0D3148"/>
                </a:solidFill>
              </a:rPr>
              <a:t> “</a:t>
            </a:r>
            <a:r>
              <a:rPr sz="2775" b="1" dirty="0" err="1">
                <a:solidFill>
                  <a:srgbClr val="0D3148"/>
                </a:solidFill>
              </a:rPr>
              <a:t>문자를</a:t>
            </a:r>
            <a:r>
              <a:rPr sz="2775" b="1" dirty="0">
                <a:solidFill>
                  <a:srgbClr val="0D3148"/>
                </a:solidFill>
              </a:rPr>
              <a:t> </a:t>
            </a:r>
            <a:r>
              <a:rPr sz="2775" b="1" dirty="0" err="1">
                <a:solidFill>
                  <a:srgbClr val="0D3148"/>
                </a:solidFill>
              </a:rPr>
              <a:t>안</a:t>
            </a:r>
            <a:r>
              <a:rPr sz="2775" b="1" dirty="0">
                <a:solidFill>
                  <a:srgbClr val="0D3148"/>
                </a:solidFill>
              </a:rPr>
              <a:t> </a:t>
            </a:r>
            <a:r>
              <a:rPr sz="2775" b="1" dirty="0" err="1">
                <a:solidFill>
                  <a:srgbClr val="0D3148"/>
                </a:solidFill>
              </a:rPr>
              <a:t>보내서”가</a:t>
            </a:r>
            <a:r>
              <a:rPr sz="2775" b="1" dirty="0">
                <a:solidFill>
                  <a:srgbClr val="0D3148"/>
                </a:solidFill>
              </a:rPr>
              <a:t> </a:t>
            </a:r>
            <a:r>
              <a:rPr sz="2775" b="1" dirty="0" err="1">
                <a:solidFill>
                  <a:srgbClr val="0D3148"/>
                </a:solidFill>
              </a:rPr>
              <a:t>아니라</a:t>
            </a:r>
            <a:r>
              <a:rPr sz="2775" b="1" dirty="0">
                <a:solidFill>
                  <a:srgbClr val="0D3148"/>
                </a:solidFill>
              </a:rPr>
              <a:t>, </a:t>
            </a:r>
            <a:r>
              <a:rPr sz="2775" b="1" dirty="0" err="1">
                <a:solidFill>
                  <a:srgbClr val="0D3148"/>
                </a:solidFill>
              </a:rPr>
              <a:t>기억과</a:t>
            </a:r>
            <a:r>
              <a:rPr sz="2775" b="1" dirty="0">
                <a:solidFill>
                  <a:srgbClr val="0D3148"/>
                </a:solidFill>
              </a:rPr>
              <a:t> </a:t>
            </a:r>
            <a:r>
              <a:rPr sz="2775" b="1" dirty="0" err="1">
                <a:solidFill>
                  <a:srgbClr val="0D3148"/>
                </a:solidFill>
              </a:rPr>
              <a:t>행동으로</a:t>
            </a:r>
            <a:r>
              <a:rPr sz="2775" b="1" dirty="0">
                <a:solidFill>
                  <a:srgbClr val="0D3148"/>
                </a:solidFill>
              </a:rPr>
              <a:t> </a:t>
            </a:r>
            <a:r>
              <a:rPr sz="2775" b="1" dirty="0" err="1">
                <a:solidFill>
                  <a:srgbClr val="0D3148"/>
                </a:solidFill>
              </a:rPr>
              <a:t>이어지지</a:t>
            </a:r>
            <a:r>
              <a:rPr sz="2775" b="1" dirty="0">
                <a:solidFill>
                  <a:srgbClr val="0D3148"/>
                </a:solidFill>
              </a:rPr>
              <a:t> </a:t>
            </a:r>
            <a:r>
              <a:rPr sz="2775" b="1" dirty="0" err="1">
                <a:solidFill>
                  <a:srgbClr val="0D3148"/>
                </a:solidFill>
              </a:rPr>
              <a:t>않는</a:t>
            </a:r>
            <a:r>
              <a:rPr sz="2775" b="1" dirty="0">
                <a:solidFill>
                  <a:srgbClr val="0D3148"/>
                </a:solidFill>
              </a:rPr>
              <a:t> </a:t>
            </a:r>
            <a:r>
              <a:rPr sz="2775" b="1" dirty="0" err="1">
                <a:solidFill>
                  <a:srgbClr val="0D3148"/>
                </a:solidFill>
              </a:rPr>
              <a:t>것입니다</a:t>
            </a:r>
            <a:r>
              <a:rPr sz="2775" b="1" dirty="0">
                <a:solidFill>
                  <a:srgbClr val="0D3148"/>
                </a:solidFill>
              </a:rPr>
              <a:t>.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320F25EE-114A-8C22-FFD2-32DE7AF38F0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572000" cy="3143250"/>
          </a:xfrm>
          <a:prstGeom prst="roundRect">
            <a:avLst>
              <a:gd name="adj" fmla="val 4848"/>
            </a:avLst>
          </a:prstGeom>
          <a:solidFill>
            <a:srgbClr val="F4F7F8"/>
          </a:solidFill>
          <a:ln w="9525">
            <a:solidFill>
              <a:srgbClr val="E2E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68712A-2EFD-3F9C-F761-ED861F08868A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5B7280"/>
                </a:solidFill>
              </a:defRPr>
            </a:pPr>
            <a:r>
              <a:rPr sz="1425" b="1">
                <a:solidFill>
                  <a:srgbClr val="5B7280"/>
                </a:solidFill>
              </a:rPr>
              <a:t>기존 실종 문자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41D5B6-FC1D-BB35-585C-5A815D17876A}"/>
              </a:ext>
            </a:extLst>
          </p:cNvPr>
          <p:cNvSpPr>
            <a:spLocks noGrp="1"/>
          </p:cNvSpPr>
          <p:nvPr/>
        </p:nvSpPr>
        <p:spPr>
          <a:xfrm>
            <a:off x="1009650" y="2876550"/>
            <a:ext cx="3762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1293A"/>
                </a:solidFill>
              </a:defRPr>
            </a:pPr>
            <a:r>
              <a:rPr sz="1650" b="0">
                <a:solidFill>
                  <a:srgbClr val="11293A"/>
                </a:solidFill>
              </a:rPr>
              <a:t>실종 안내</a:t>
            </a:r>
          </a:p>
          <a:p>
            <a:pPr algn="l">
              <a:defRPr sz="1650" b="0">
                <a:solidFill>
                  <a:srgbClr val="11293A"/>
                </a:solidFill>
              </a:defRPr>
            </a:pPr>
            <a:r>
              <a:rPr sz="1650" b="0">
                <a:solidFill>
                  <a:srgbClr val="11293A"/>
                </a:solidFill>
              </a:rPr>
              <a:t>발생 장소: ○○구 ○○동</a:t>
            </a:r>
          </a:p>
          <a:p>
            <a:pPr algn="l">
              <a:defRPr sz="1650" b="0">
                <a:solidFill>
                  <a:srgbClr val="11293A"/>
                </a:solidFill>
              </a:defRPr>
            </a:pPr>
            <a:r>
              <a:rPr sz="1650" b="0">
                <a:solidFill>
                  <a:srgbClr val="11293A"/>
                </a:solidFill>
              </a:rPr>
              <a:t>착의: 검정 모자, 회색 상의,</a:t>
            </a:r>
          </a:p>
          <a:p>
            <a:pPr algn="l">
              <a:defRPr sz="1650" b="0">
                <a:solidFill>
                  <a:srgbClr val="11293A"/>
                </a:solidFill>
              </a:defRPr>
            </a:pPr>
            <a:r>
              <a:rPr sz="1650" b="0">
                <a:solidFill>
                  <a:srgbClr val="11293A"/>
                </a:solidFill>
              </a:rPr>
              <a:t>파란 가방 …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3DC8B8-C68B-A195-E244-27B023A50478}"/>
              </a:ext>
            </a:extLst>
          </p:cNvPr>
          <p:cNvSpPr>
            <a:spLocks noGrp="1"/>
          </p:cNvSpPr>
          <p:nvPr/>
        </p:nvSpPr>
        <p:spPr>
          <a:xfrm>
            <a:off x="1009650" y="4686300"/>
            <a:ext cx="3476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EE7567"/>
                </a:solidFill>
              </a:defRPr>
            </a:pPr>
            <a:r>
              <a:rPr sz="1275" b="1">
                <a:solidFill>
                  <a:srgbClr val="EE7567"/>
                </a:solidFill>
              </a:rPr>
              <a:t>긴 텍스트 · 지금 내 위치와 무관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9A53DA6-7F3D-4B50-1D44-B6D83B0E4D04}"/>
              </a:ext>
            </a:extLst>
          </p:cNvPr>
          <p:cNvSpPr>
            <a:spLocks noGrp="1"/>
          </p:cNvSpPr>
          <p:nvPr/>
        </p:nvSpPr>
        <p:spPr>
          <a:xfrm>
            <a:off x="6000750" y="2133600"/>
            <a:ext cx="400050" cy="400050"/>
          </a:xfrm>
          <a:prstGeom prst="ellipse">
            <a:avLst/>
          </a:prstGeom>
          <a:solidFill>
            <a:srgbClr val="0D3148"/>
          </a:solidFill>
          <a:ln w="0">
            <a:solidFill>
              <a:srgbClr val="0D31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9FB9D8-5B7B-7AC0-7E92-150F9F4E0709}"/>
              </a:ext>
            </a:extLst>
          </p:cNvPr>
          <p:cNvSpPr>
            <a:spLocks noGrp="1"/>
          </p:cNvSpPr>
          <p:nvPr/>
        </p:nvSpPr>
        <p:spPr>
          <a:xfrm>
            <a:off x="6000750" y="21336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95CE33-78CF-2349-9109-FC124473B933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409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현장 인지 실패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2C2A00-A35B-F2AE-AD10-DE79FF7E43AF}"/>
              </a:ext>
            </a:extLst>
          </p:cNvPr>
          <p:cNvSpPr>
            <a:spLocks noGrp="1"/>
          </p:cNvSpPr>
          <p:nvPr/>
        </p:nvSpPr>
        <p:spPr>
          <a:xfrm>
            <a:off x="6572250" y="246697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글을 읽어도 옷·가방 특징이 남지 않습니다.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3722E22-00BB-5A1D-A855-AAB721052D7E}"/>
              </a:ext>
            </a:extLst>
          </p:cNvPr>
          <p:cNvSpPr>
            <a:spLocks noGrp="1"/>
          </p:cNvSpPr>
          <p:nvPr/>
        </p:nvSpPr>
        <p:spPr>
          <a:xfrm>
            <a:off x="6000750" y="3209925"/>
            <a:ext cx="400050" cy="400050"/>
          </a:xfrm>
          <a:prstGeom prst="ellipse">
            <a:avLst/>
          </a:prstGeom>
          <a:solidFill>
            <a:srgbClr val="0D3148"/>
          </a:solidFill>
          <a:ln w="0">
            <a:solidFill>
              <a:srgbClr val="0D31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84126E-1C90-F467-EAF2-1335FD85AE4C}"/>
              </a:ext>
            </a:extLst>
          </p:cNvPr>
          <p:cNvSpPr>
            <a:spLocks noGrp="1"/>
          </p:cNvSpPr>
          <p:nvPr/>
        </p:nvSpPr>
        <p:spPr>
          <a:xfrm>
            <a:off x="6000750" y="32099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6C8DBC-AA3A-F69E-2B4A-E915846B8391}"/>
              </a:ext>
            </a:extLst>
          </p:cNvPr>
          <p:cNvSpPr>
            <a:spLocks noGrp="1"/>
          </p:cNvSpPr>
          <p:nvPr/>
        </p:nvSpPr>
        <p:spPr>
          <a:xfrm>
            <a:off x="6572250" y="3190875"/>
            <a:ext cx="409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알림 피로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CDA5E8-FB88-676F-C74B-EFADFBFBFEF0}"/>
              </a:ext>
            </a:extLst>
          </p:cNvPr>
          <p:cNvSpPr>
            <a:spLocks noGrp="1"/>
          </p:cNvSpPr>
          <p:nvPr/>
        </p:nvSpPr>
        <p:spPr>
          <a:xfrm>
            <a:off x="6572250" y="35433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전국 단위 발송은 대부분의 사람에게 무관합니다.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9E1C83F-0CC6-DFAC-48E1-9CFDFB0A5E5C}"/>
              </a:ext>
            </a:extLst>
          </p:cNvPr>
          <p:cNvSpPr>
            <a:spLocks noGrp="1"/>
          </p:cNvSpPr>
          <p:nvPr/>
        </p:nvSpPr>
        <p:spPr>
          <a:xfrm>
            <a:off x="6000750" y="4286250"/>
            <a:ext cx="400050" cy="400050"/>
          </a:xfrm>
          <a:prstGeom prst="ellipse">
            <a:avLst/>
          </a:prstGeom>
          <a:solidFill>
            <a:srgbClr val="EE7567"/>
          </a:solidFill>
          <a:ln w="0">
            <a:solidFill>
              <a:srgbClr val="EE75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8FA91A-3336-52A9-B5D7-0B417BDC2592}"/>
              </a:ext>
            </a:extLst>
          </p:cNvPr>
          <p:cNvSpPr>
            <a:spLocks noGrp="1"/>
          </p:cNvSpPr>
          <p:nvPr/>
        </p:nvSpPr>
        <p:spPr>
          <a:xfrm>
            <a:off x="6000750" y="4286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968026-0181-C0DC-5A63-EB0C9128FD49}"/>
              </a:ext>
            </a:extLst>
          </p:cNvPr>
          <p:cNvSpPr>
            <a:spLocks noGrp="1"/>
          </p:cNvSpPr>
          <p:nvPr/>
        </p:nvSpPr>
        <p:spPr>
          <a:xfrm>
            <a:off x="6572250" y="4267200"/>
            <a:ext cx="409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행동 단절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519F8A-4020-3F3D-A73B-ED83883A9C91}"/>
              </a:ext>
            </a:extLst>
          </p:cNvPr>
          <p:cNvSpPr>
            <a:spLocks noGrp="1"/>
          </p:cNvSpPr>
          <p:nvPr/>
        </p:nvSpPr>
        <p:spPr>
          <a:xfrm>
            <a:off x="6572250" y="4619625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목격 가능성이 생겨도 신고까지 이어지기 어렵습니다.</a:t>
            </a:r>
          </a:p>
        </p:txBody>
      </p:sp>
      <p:sp>
        <p:nvSpPr>
          <p:cNvPr id="19" name="직선 연결선[R] 18">
            <a:extLst>
              <a:ext uri="{FF2B5EF4-FFF2-40B4-BE49-F238E27FC236}">
                <a16:creationId xmlns:a16="http://schemas.microsoft.com/office/drawing/2014/main" id="{CE738500-C78B-670C-43D1-92578AC4549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4B0D23-3F1D-33BA-DC44-6FAAFAADEAD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1A2AA1B-65DF-C465-CA3F-D88F68F34325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396325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AD6B1853-5CDF-4459-8255-D4BD82D292E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BFA6"/>
                </a:solidFill>
              </a:defRPr>
            </a:pPr>
            <a:r>
              <a:rPr sz="975" b="1">
                <a:solidFill>
                  <a:srgbClr val="36BFA6"/>
                </a:solidFill>
              </a:rPr>
              <a:t>NEARFIND / 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48D42C-CBEE-4132-BD0A-BFB82F6CBC4E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0D3148"/>
                </a:solidFill>
              </a:defRPr>
            </a:pPr>
            <a:r>
              <a:rPr sz="2775" b="1">
                <a:solidFill>
                  <a:srgbClr val="0D3148"/>
                </a:solidFill>
              </a:rPr>
              <a:t>NearFind MVP는 “정보 → 인지 → 행동”의 단절을 한 번에 연결합니다.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8EEC59-F8CD-4597-89B4-039B18CAF15A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7280"/>
                </a:solidFill>
              </a:defRPr>
            </a:pPr>
            <a:r>
              <a:rPr sz="1350" b="0">
                <a:solidFill>
                  <a:srgbClr val="5B7280"/>
                </a:solidFill>
              </a:rPr>
              <a:t>실종자를 예측하는 것이 아니라, 공식 정보가 필요한 순간에 시민에게 닿도록 설계합니다.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0440AD6-8E7A-45C3-8C67-E1BF6DCED7FD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5432DA-E80B-487B-A3E7-1A34F7D72E59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공식 정보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76969B-2935-4CAF-9E97-DC67A999AD00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발생 장소</a:t>
            </a:r>
          </a:p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착의 · 특징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7002C9-4EBD-456F-A50F-21A631956BD8}"/>
              </a:ext>
            </a:extLst>
          </p:cNvPr>
          <p:cNvSpPr>
            <a:spLocks noGrp="1"/>
          </p:cNvSpPr>
          <p:nvPr/>
        </p:nvSpPr>
        <p:spPr>
          <a:xfrm>
            <a:off x="2409825" y="32099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C88227D-DA1A-4324-B7FD-EDBE3C70C513}"/>
              </a:ext>
            </a:extLst>
          </p:cNvPr>
          <p:cNvSpPr>
            <a:spLocks noGrp="1"/>
          </p:cNvSpPr>
          <p:nvPr/>
        </p:nvSpPr>
        <p:spPr>
          <a:xfrm>
            <a:off x="283845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44C74E-3A42-4DAE-A80B-D0BD823EACE5}"/>
              </a:ext>
            </a:extLst>
          </p:cNvPr>
          <p:cNvSpPr>
            <a:spLocks noGrp="1"/>
          </p:cNvSpPr>
          <p:nvPr/>
        </p:nvSpPr>
        <p:spPr>
          <a:xfrm>
            <a:off x="302895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AI 구조화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F712AA-C4D9-4DA6-8E34-C13BEEEB0E94}"/>
              </a:ext>
            </a:extLst>
          </p:cNvPr>
          <p:cNvSpPr>
            <a:spLocks noGrp="1"/>
          </p:cNvSpPr>
          <p:nvPr/>
        </p:nvSpPr>
        <p:spPr>
          <a:xfrm>
            <a:off x="3028950" y="33813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핵심 요소 추출</a:t>
            </a:r>
          </a:p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인상착의 카드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976EE9-DEC9-4695-A8CC-D058676BC506}"/>
              </a:ext>
            </a:extLst>
          </p:cNvPr>
          <p:cNvSpPr>
            <a:spLocks noGrp="1"/>
          </p:cNvSpPr>
          <p:nvPr/>
        </p:nvSpPr>
        <p:spPr>
          <a:xfrm>
            <a:off x="4562475" y="32099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08AE63E-50B4-4768-917B-40228E073C92}"/>
              </a:ext>
            </a:extLst>
          </p:cNvPr>
          <p:cNvSpPr>
            <a:spLocks noGrp="1"/>
          </p:cNvSpPr>
          <p:nvPr/>
        </p:nvSpPr>
        <p:spPr>
          <a:xfrm>
            <a:off x="499110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DFF3EF"/>
          </a:solidFill>
          <a:ln w="9525">
            <a:solidFill>
              <a:srgbClr val="BD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4D8796-BBDC-4BE2-BECB-53942124D2B2}"/>
              </a:ext>
            </a:extLst>
          </p:cNvPr>
          <p:cNvSpPr>
            <a:spLocks noGrp="1"/>
          </p:cNvSpPr>
          <p:nvPr/>
        </p:nvSpPr>
        <p:spPr>
          <a:xfrm>
            <a:off x="518160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알림 구역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EC9019-E573-423F-80D1-5EDC7C5CC52D}"/>
              </a:ext>
            </a:extLst>
          </p:cNvPr>
          <p:cNvSpPr>
            <a:spLocks noGrp="1"/>
          </p:cNvSpPr>
          <p:nvPr/>
        </p:nvSpPr>
        <p:spPr>
          <a:xfrm>
            <a:off x="5181600" y="33813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시간에 따라</a:t>
            </a:r>
          </a:p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보수적 확장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15A1B4-C6D2-4E24-ABEF-16AAD781525B}"/>
              </a:ext>
            </a:extLst>
          </p:cNvPr>
          <p:cNvSpPr>
            <a:spLocks noGrp="1"/>
          </p:cNvSpPr>
          <p:nvPr/>
        </p:nvSpPr>
        <p:spPr>
          <a:xfrm>
            <a:off x="6715125" y="32099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15FFFB2-CFA0-411A-9722-9D8E785BC6C0}"/>
              </a:ext>
            </a:extLst>
          </p:cNvPr>
          <p:cNvSpPr>
            <a:spLocks noGrp="1"/>
          </p:cNvSpPr>
          <p:nvPr/>
        </p:nvSpPr>
        <p:spPr>
          <a:xfrm>
            <a:off x="714375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DB579F-D8AD-4C0F-8562-511BF4FAFD1C}"/>
              </a:ext>
            </a:extLst>
          </p:cNvPr>
          <p:cNvSpPr>
            <a:spLocks noGrp="1"/>
          </p:cNvSpPr>
          <p:nvPr/>
        </p:nvSpPr>
        <p:spPr>
          <a:xfrm>
            <a:off x="733425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맞춤 푸시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389C73-CB5C-418D-A22E-16BC41BDF528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구역 진입한</a:t>
            </a:r>
          </a:p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동의 사용자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DEA106-6FA7-477B-B55B-4B88AF93F0B0}"/>
              </a:ext>
            </a:extLst>
          </p:cNvPr>
          <p:cNvSpPr>
            <a:spLocks noGrp="1"/>
          </p:cNvSpPr>
          <p:nvPr/>
        </p:nvSpPr>
        <p:spPr>
          <a:xfrm>
            <a:off x="8867775" y="32099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185AEB55-0965-4F83-95D7-B0C1DAE6293E}"/>
              </a:ext>
            </a:extLst>
          </p:cNvPr>
          <p:cNvSpPr>
            <a:spLocks noGrp="1"/>
          </p:cNvSpPr>
          <p:nvPr/>
        </p:nvSpPr>
        <p:spPr>
          <a:xfrm>
            <a:off x="929640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9C815A5-4DDC-4F7A-89F0-BA46CCE80E71}"/>
              </a:ext>
            </a:extLst>
          </p:cNvPr>
          <p:cNvSpPr>
            <a:spLocks noGrp="1"/>
          </p:cNvSpPr>
          <p:nvPr/>
        </p:nvSpPr>
        <p:spPr>
          <a:xfrm>
            <a:off x="948690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공식 제보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BE8E55-EEF4-44E6-AD9B-D6D360F60977}"/>
              </a:ext>
            </a:extLst>
          </p:cNvPr>
          <p:cNvSpPr>
            <a:spLocks noGrp="1"/>
          </p:cNvSpPr>
          <p:nvPr/>
        </p:nvSpPr>
        <p:spPr>
          <a:xfrm>
            <a:off x="9486900" y="33813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112 연결</a:t>
            </a:r>
          </a:p>
          <a:p>
            <a:pPr algn="ctr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운영자 검토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545EF5E5-F4E1-467A-BF19-683B6ADEC42F}"/>
              </a:ext>
            </a:extLst>
          </p:cNvPr>
          <p:cNvSpPr>
            <a:spLocks noGrp="1"/>
          </p:cNvSpPr>
          <p:nvPr/>
        </p:nvSpPr>
        <p:spPr>
          <a:xfrm>
            <a:off x="1971675" y="5095875"/>
            <a:ext cx="8239125" cy="438150"/>
          </a:xfrm>
          <a:prstGeom prst="roundRect">
            <a:avLst>
              <a:gd name="adj" fmla="val 50000"/>
            </a:avLst>
          </a:prstGeom>
          <a:solidFill>
            <a:srgbClr val="0D3148"/>
          </a:solidFill>
          <a:ln w="9525">
            <a:solidFill>
              <a:srgbClr val="0D31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2DF0FD-651C-4A86-B1C1-7E7B69F0AB07}"/>
              </a:ext>
            </a:extLst>
          </p:cNvPr>
          <p:cNvSpPr>
            <a:spLocks noGrp="1"/>
          </p:cNvSpPr>
          <p:nvPr/>
        </p:nvSpPr>
        <p:spPr>
          <a:xfrm>
            <a:off x="1971675" y="5095875"/>
            <a:ext cx="8239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AI는 얼굴·현재 위치를 추정하지 않습니다.  시민의 “주의”와 공식 신고 흐름을 연결합니다.</a:t>
            </a:r>
          </a:p>
        </p:txBody>
      </p:sp>
      <p:sp>
        <p:nvSpPr>
          <p:cNvPr id="25" name="직선 연결선[R] 24">
            <a:extLst>
              <a:ext uri="{FF2B5EF4-FFF2-40B4-BE49-F238E27FC236}">
                <a16:creationId xmlns:a16="http://schemas.microsoft.com/office/drawing/2014/main" id="{CA75ED15-BD3A-47E5-BE06-62E291BD695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28A7FE-4C45-469C-98BB-733B8BBA8080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1D1281-A776-4B3A-9CC0-EC3EFA8E1E1C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3/9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A97E8861-2241-495B-9F2B-148AC4255225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1049000" cy="1238250"/>
          </a:xfrm>
          <a:prstGeom prst="roundRect">
            <a:avLst>
              <a:gd name="adj" fmla="val 12308"/>
            </a:avLst>
          </a:prstGeom>
          <a:solidFill>
            <a:srgbClr val="F7FAFB"/>
          </a:solidFill>
          <a:ln w="9525">
            <a:solidFill>
              <a:srgbClr val="F7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C3FBAD-F37C-4410-B2F9-24A50A43444C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0D3148"/>
                </a:solidFill>
              </a:defRPr>
            </a:pPr>
            <a:r>
              <a:rPr sz="2775" b="1">
                <a:solidFill>
                  <a:srgbClr val="0D3148"/>
                </a:solidFill>
              </a:rPr>
              <a:t>실종 정보가 이미지 알림과 신고로 이어지는 과정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3B782A0-63AC-467A-B87E-F20D918922CC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7280"/>
                </a:solidFill>
              </a:defRPr>
            </a:pPr>
            <a:r>
              <a:rPr sz="1350" b="0">
                <a:solidFill>
                  <a:srgbClr val="5B7280"/>
                </a:solidFill>
              </a:rPr>
              <a:t>복잡한 문장을 한눈에 이해되는 이미지로 바꾸고, 근처 시민에게만 전달합니다.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6CD6C3E6-9EC1-4886-899D-BA7BC657C7A0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11049000" cy="3333750"/>
          </a:xfrm>
          <a:prstGeom prst="roundRect">
            <a:avLst>
              <a:gd name="adj" fmla="val 4571"/>
            </a:avLst>
          </a:prstGeom>
          <a:solidFill>
            <a:srgbClr val="F7FAFB"/>
          </a:solidFill>
          <a:ln w="9525">
            <a:solidFill>
              <a:srgbClr val="F7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ED4B5839-9DB0-4ECB-84FB-3B41F2C53789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11258EA-E1AC-43B8-812E-F66C64E9CFDA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D3148"/>
                </a:solidFill>
              </a:defRPr>
            </a:pPr>
            <a:r>
              <a:rPr sz="1575" b="1">
                <a:solidFill>
                  <a:srgbClr val="0D3148"/>
                </a:solidFill>
              </a:rPr>
              <a:t>실종 정보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C8A4E15-91B7-4A8B-86E0-CF16FAA2E02D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마지막 확인 장소</a:t>
            </a:r>
          </a:p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옷·가방·특징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665093E-CA0D-47D6-B984-2F204AD1A18F}"/>
              </a:ext>
            </a:extLst>
          </p:cNvPr>
          <p:cNvSpPr>
            <a:spLocks noGrp="1"/>
          </p:cNvSpPr>
          <p:nvPr/>
        </p:nvSpPr>
        <p:spPr>
          <a:xfrm>
            <a:off x="2409825" y="32099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3B8DF385-6D04-4133-B48A-74E87A58F681}"/>
              </a:ext>
            </a:extLst>
          </p:cNvPr>
          <p:cNvSpPr>
            <a:spLocks noGrp="1"/>
          </p:cNvSpPr>
          <p:nvPr/>
        </p:nvSpPr>
        <p:spPr>
          <a:xfrm>
            <a:off x="283845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D3DE6FD-F013-4467-9F79-9506D2961E69}"/>
              </a:ext>
            </a:extLst>
          </p:cNvPr>
          <p:cNvSpPr>
            <a:spLocks noGrp="1"/>
          </p:cNvSpPr>
          <p:nvPr/>
        </p:nvSpPr>
        <p:spPr>
          <a:xfrm>
            <a:off x="302895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D3148"/>
                </a:solidFill>
              </a:defRPr>
            </a:pPr>
            <a:r>
              <a:rPr sz="1575" b="1">
                <a:solidFill>
                  <a:srgbClr val="0D3148"/>
                </a:solidFill>
              </a:rPr>
              <a:t>AI 이미지 생성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A659BE7-F88E-4D4D-9642-315CB2D44C28}"/>
              </a:ext>
            </a:extLst>
          </p:cNvPr>
          <p:cNvSpPr>
            <a:spLocks noGrp="1"/>
          </p:cNvSpPr>
          <p:nvPr/>
        </p:nvSpPr>
        <p:spPr>
          <a:xfrm>
            <a:off x="3028950" y="33813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인상착의를</a:t>
            </a:r>
          </a:p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참고 이미지로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4456AAE-63B3-433B-91EA-312D01C9A9FC}"/>
              </a:ext>
            </a:extLst>
          </p:cNvPr>
          <p:cNvSpPr>
            <a:spLocks noGrp="1"/>
          </p:cNvSpPr>
          <p:nvPr/>
        </p:nvSpPr>
        <p:spPr>
          <a:xfrm>
            <a:off x="4562475" y="32099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EB3C24F3-5191-458F-BB21-35973F27A71B}"/>
              </a:ext>
            </a:extLst>
          </p:cNvPr>
          <p:cNvSpPr>
            <a:spLocks noGrp="1"/>
          </p:cNvSpPr>
          <p:nvPr/>
        </p:nvSpPr>
        <p:spPr>
          <a:xfrm>
            <a:off x="499110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DFF3EF"/>
          </a:solidFill>
          <a:ln w="9525">
            <a:solidFill>
              <a:srgbClr val="BD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E62E99-6E6E-45C2-B03C-D73EDB19F53B}"/>
              </a:ext>
            </a:extLst>
          </p:cNvPr>
          <p:cNvSpPr>
            <a:spLocks noGrp="1"/>
          </p:cNvSpPr>
          <p:nvPr/>
        </p:nvSpPr>
        <p:spPr>
          <a:xfrm>
            <a:off x="518160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D3148"/>
                </a:solidFill>
              </a:defRPr>
            </a:pPr>
            <a:r>
              <a:rPr sz="1575" b="1">
                <a:solidFill>
                  <a:srgbClr val="0D3148"/>
                </a:solidFill>
              </a:rPr>
              <a:t>근처 알림 범위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DFBF01C-8201-4AB8-B590-AF0C6E2F49C2}"/>
              </a:ext>
            </a:extLst>
          </p:cNvPr>
          <p:cNvSpPr>
            <a:spLocks noGrp="1"/>
          </p:cNvSpPr>
          <p:nvPr/>
        </p:nvSpPr>
        <p:spPr>
          <a:xfrm>
            <a:off x="5181600" y="33813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마지막 확인 장소와</a:t>
            </a:r>
          </a:p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시간을 기준으로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6001540-A09D-49FB-A1C4-50B5E2BDD02E}"/>
              </a:ext>
            </a:extLst>
          </p:cNvPr>
          <p:cNvSpPr>
            <a:spLocks noGrp="1"/>
          </p:cNvSpPr>
          <p:nvPr/>
        </p:nvSpPr>
        <p:spPr>
          <a:xfrm>
            <a:off x="6715125" y="32099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F3545A56-C3C9-4CF8-8B9C-FDF48C85F14D}"/>
              </a:ext>
            </a:extLst>
          </p:cNvPr>
          <p:cNvSpPr>
            <a:spLocks noGrp="1"/>
          </p:cNvSpPr>
          <p:nvPr/>
        </p:nvSpPr>
        <p:spPr>
          <a:xfrm>
            <a:off x="714375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6346724-97A0-451C-AE8E-83A34D18A3EE}"/>
              </a:ext>
            </a:extLst>
          </p:cNvPr>
          <p:cNvSpPr>
            <a:spLocks noGrp="1"/>
          </p:cNvSpPr>
          <p:nvPr/>
        </p:nvSpPr>
        <p:spPr>
          <a:xfrm>
            <a:off x="733425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D3148"/>
                </a:solidFill>
              </a:defRPr>
            </a:pPr>
            <a:r>
              <a:rPr sz="1575" b="1">
                <a:solidFill>
                  <a:srgbClr val="0D3148"/>
                </a:solidFill>
              </a:rPr>
              <a:t>근처 시민 알림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4F0C62-612F-4C8E-9D67-DE9929865DBC}"/>
              </a:ext>
            </a:extLst>
          </p:cNvPr>
          <p:cNvSpPr>
            <a:spLocks noGrp="1"/>
          </p:cNvSpPr>
          <p:nvPr/>
        </p:nvSpPr>
        <p:spPr>
          <a:xfrm>
            <a:off x="7334250" y="33813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이미지와 행동 안내를</a:t>
            </a:r>
          </a:p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필요한 시민에게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2CB2ADC-3399-4318-8A78-D2A679BF3942}"/>
              </a:ext>
            </a:extLst>
          </p:cNvPr>
          <p:cNvSpPr>
            <a:spLocks noGrp="1"/>
          </p:cNvSpPr>
          <p:nvPr/>
        </p:nvSpPr>
        <p:spPr>
          <a:xfrm>
            <a:off x="8867775" y="32099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96FC7E98-507D-4C5A-8148-0E3A363BA687}"/>
              </a:ext>
            </a:extLst>
          </p:cNvPr>
          <p:cNvSpPr>
            <a:spLocks noGrp="1"/>
          </p:cNvSpPr>
          <p:nvPr/>
        </p:nvSpPr>
        <p:spPr>
          <a:xfrm>
            <a:off x="9296400" y="2619375"/>
            <a:ext cx="1714500" cy="175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F14C0F6-668F-4303-A9A9-7D5AE1DFEF69}"/>
              </a:ext>
            </a:extLst>
          </p:cNvPr>
          <p:cNvSpPr>
            <a:spLocks noGrp="1"/>
          </p:cNvSpPr>
          <p:nvPr/>
        </p:nvSpPr>
        <p:spPr>
          <a:xfrm>
            <a:off x="9486900" y="2914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D3148"/>
                </a:solidFill>
              </a:defRPr>
            </a:pPr>
            <a:r>
              <a:rPr sz="1575" b="1">
                <a:solidFill>
                  <a:srgbClr val="0D3148"/>
                </a:solidFill>
              </a:rPr>
              <a:t>경찰 신고 연결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0FF621A-D076-4E7A-86FD-CA83718B823B}"/>
              </a:ext>
            </a:extLst>
          </p:cNvPr>
          <p:cNvSpPr>
            <a:spLocks noGrp="1"/>
          </p:cNvSpPr>
          <p:nvPr/>
        </p:nvSpPr>
        <p:spPr>
          <a:xfrm>
            <a:off x="9486900" y="3381375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112 전화·문자 신고</a:t>
            </a:r>
          </a:p>
          <a:p>
            <a:pPr algn="ctr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공식 채널로 연결</a:t>
            </a: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5C221C07-DD2D-4F40-B033-82A861919F36}"/>
              </a:ext>
            </a:extLst>
          </p:cNvPr>
          <p:cNvSpPr>
            <a:spLocks noGrp="1"/>
          </p:cNvSpPr>
          <p:nvPr/>
        </p:nvSpPr>
        <p:spPr>
          <a:xfrm>
            <a:off x="1809750" y="5095875"/>
            <a:ext cx="8572500" cy="438150"/>
          </a:xfrm>
          <a:prstGeom prst="roundRect">
            <a:avLst>
              <a:gd name="adj" fmla="val 50000"/>
            </a:avLst>
          </a:prstGeom>
          <a:solidFill>
            <a:srgbClr val="0D3148"/>
          </a:solidFill>
          <a:ln w="9525">
            <a:solidFill>
              <a:srgbClr val="0D31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108327A-5E7E-4B5E-ACE5-727A4984DD54}"/>
              </a:ext>
            </a:extLst>
          </p:cNvPr>
          <p:cNvSpPr>
            <a:spLocks noGrp="1"/>
          </p:cNvSpPr>
          <p:nvPr/>
        </p:nvSpPr>
        <p:spPr>
          <a:xfrm>
            <a:off x="1809750" y="5095875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AI는 얼굴이나 현재 위치를 추정하지 않습니다. 인상착의를 기억하기 쉬운 이미지로 바꾸는 데 집중합니다.</a:t>
            </a:r>
          </a:p>
        </p:txBody>
      </p:sp>
    </p:spTree>
    <p:extLst>
      <p:ext uri="{BB962C8B-B14F-4D97-AF65-F5344CB8AC3E}">
        <p14:creationId xmlns:p14="http://schemas.microsoft.com/office/powerpoint/2010/main" val="848373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648833EE-38B4-4392-BA84-C6370474238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BFA6"/>
                </a:solidFill>
              </a:defRPr>
            </a:pPr>
            <a:r>
              <a:rPr sz="975" b="1">
                <a:solidFill>
                  <a:srgbClr val="36BFA6"/>
                </a:solidFill>
              </a:rPr>
              <a:t>NEARFIND / 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94AA1E-F1CB-402A-A1AB-38C854047691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0D3148"/>
                </a:solidFill>
              </a:defRPr>
            </a:pPr>
            <a:r>
              <a:rPr sz="2775" b="1" dirty="0">
                <a:solidFill>
                  <a:srgbClr val="0D3148"/>
                </a:solidFill>
              </a:rPr>
              <a:t>MVP </a:t>
            </a:r>
            <a:r>
              <a:rPr sz="2775" b="1" dirty="0" err="1">
                <a:solidFill>
                  <a:srgbClr val="0D3148"/>
                </a:solidFill>
              </a:rPr>
              <a:t>화면</a:t>
            </a:r>
            <a:r>
              <a:rPr sz="2775" b="1" dirty="0">
                <a:solidFill>
                  <a:srgbClr val="0D3148"/>
                </a:solidFill>
              </a:rPr>
              <a:t> ①</a:t>
            </a:r>
          </a:p>
        </p:txBody>
      </p:sp>
      <p:sp>
        <p:nvSpPr>
          <p:cNvPr id="33" name="직선 연결선[R] 32">
            <a:extLst>
              <a:ext uri="{FF2B5EF4-FFF2-40B4-BE49-F238E27FC236}">
                <a16:creationId xmlns:a16="http://schemas.microsoft.com/office/drawing/2014/main" id="{ED7E680D-1332-413C-8D01-F78EADA8DE1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1C97B96-97C3-45A2-A1CE-27EF999D9835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4EE8CB9-289C-4C63-8BF0-F70BEF09C952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4/9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8A46AFCB-0325-43C7-A886-D900083C9A28}"/>
              </a:ext>
            </a:extLst>
          </p:cNvPr>
          <p:cNvSpPr>
            <a:spLocks noGrp="1"/>
          </p:cNvSpPr>
          <p:nvPr/>
        </p:nvSpPr>
        <p:spPr>
          <a:xfrm>
            <a:off x="8858250" y="2495550"/>
            <a:ext cx="2571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9B836A23-2B94-CA76-68DF-4E90E4AA6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8" r="-2354" b="15932"/>
          <a:stretch>
            <a:fillRect/>
          </a:stretch>
        </p:blipFill>
        <p:spPr>
          <a:xfrm>
            <a:off x="3825498" y="393327"/>
            <a:ext cx="2986975" cy="594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29E458F6-748F-43BF-89A8-2EDB85E3387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BFA6"/>
                </a:solidFill>
              </a:defRPr>
            </a:pPr>
            <a:r>
              <a:rPr sz="975" b="1">
                <a:solidFill>
                  <a:srgbClr val="36BFA6"/>
                </a:solidFill>
              </a:rPr>
              <a:t>NEARFIND / 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6D89B-EA29-49A5-9D9C-00FF41A5F245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0D3148"/>
                </a:solidFill>
              </a:defRPr>
            </a:pPr>
            <a:r>
              <a:rPr sz="2775" b="1" dirty="0">
                <a:solidFill>
                  <a:srgbClr val="0D3148"/>
                </a:solidFill>
              </a:rPr>
              <a:t>MVP </a:t>
            </a:r>
            <a:r>
              <a:rPr sz="2775" b="1" dirty="0" err="1">
                <a:solidFill>
                  <a:srgbClr val="0D3148"/>
                </a:solidFill>
              </a:rPr>
              <a:t>화면</a:t>
            </a:r>
            <a:r>
              <a:rPr sz="2775" b="1" dirty="0">
                <a:solidFill>
                  <a:srgbClr val="0D3148"/>
                </a:solidFill>
              </a:rPr>
              <a:t> ②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F67E07A-12EB-4466-AE6D-2E1AD1691B2E}"/>
              </a:ext>
            </a:extLst>
          </p:cNvPr>
          <p:cNvSpPr>
            <a:spLocks noGrp="1"/>
          </p:cNvSpPr>
          <p:nvPr/>
        </p:nvSpPr>
        <p:spPr>
          <a:xfrm>
            <a:off x="5191125" y="2266950"/>
            <a:ext cx="5715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0FD289-DB7F-4911-A2D7-7B3C1AF3E0FD}"/>
              </a:ext>
            </a:extLst>
          </p:cNvPr>
          <p:cNvSpPr>
            <a:spLocks noGrp="1"/>
          </p:cNvSpPr>
          <p:nvPr/>
        </p:nvSpPr>
        <p:spPr>
          <a:xfrm>
            <a:off x="5505450" y="24288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293A"/>
                </a:solidFill>
              </a:defRPr>
            </a:pPr>
            <a:r>
              <a:rPr sz="1575" b="1">
                <a:solidFill>
                  <a:srgbClr val="11293A"/>
                </a:solidFill>
              </a:rPr>
              <a:t>“3초 카드”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6C5DD58-9558-4968-ABCC-B15F398432AF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긴 텍스트를 옷·소지품 중심으로 재구성해 현장 인지를 돕습니다.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7164672-40A4-42AC-A8CE-BDAB5B592550}"/>
              </a:ext>
            </a:extLst>
          </p:cNvPr>
          <p:cNvSpPr>
            <a:spLocks noGrp="1"/>
          </p:cNvSpPr>
          <p:nvPr/>
        </p:nvSpPr>
        <p:spPr>
          <a:xfrm>
            <a:off x="5191125" y="3438525"/>
            <a:ext cx="5715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38496D-756F-4939-8418-9354982C873C}"/>
              </a:ext>
            </a:extLst>
          </p:cNvPr>
          <p:cNvSpPr>
            <a:spLocks noGrp="1"/>
          </p:cNvSpPr>
          <p:nvPr/>
        </p:nvSpPr>
        <p:spPr>
          <a:xfrm>
            <a:off x="5505450" y="36004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EE7567"/>
                </a:solidFill>
              </a:defRPr>
            </a:pPr>
            <a:r>
              <a:rPr sz="1575" b="1">
                <a:solidFill>
                  <a:srgbClr val="EE7567"/>
                </a:solidFill>
              </a:rPr>
              <a:t>안전한 행동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1536DC-C287-49BE-8D31-459AEFDBF237}"/>
              </a:ext>
            </a:extLst>
          </p:cNvPr>
          <p:cNvSpPr>
            <a:spLocks noGrp="1"/>
          </p:cNvSpPr>
          <p:nvPr/>
        </p:nvSpPr>
        <p:spPr>
          <a:xfrm>
            <a:off x="7124700" y="3571875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직접 추적이 아니라, 안전한 거리에서 112 신고를 안내합니다.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53C15B89-D5A4-49C9-A545-4F40EC895795}"/>
              </a:ext>
            </a:extLst>
          </p:cNvPr>
          <p:cNvSpPr>
            <a:spLocks noGrp="1"/>
          </p:cNvSpPr>
          <p:nvPr/>
        </p:nvSpPr>
        <p:spPr>
          <a:xfrm>
            <a:off x="5191125" y="4610100"/>
            <a:ext cx="5715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B2A00B-9C75-48E8-BA8D-06DC350E8850}"/>
              </a:ext>
            </a:extLst>
          </p:cNvPr>
          <p:cNvSpPr>
            <a:spLocks noGrp="1"/>
          </p:cNvSpPr>
          <p:nvPr/>
        </p:nvSpPr>
        <p:spPr>
          <a:xfrm>
            <a:off x="5505450" y="477202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293A"/>
                </a:solidFill>
              </a:defRPr>
            </a:pPr>
            <a:r>
              <a:rPr sz="1575" b="1">
                <a:solidFill>
                  <a:srgbClr val="11293A"/>
                </a:solidFill>
              </a:rPr>
              <a:t>안심 걸음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2D21AA-41F8-4422-A256-A4840CA3A667}"/>
              </a:ext>
            </a:extLst>
          </p:cNvPr>
          <p:cNvSpPr>
            <a:spLocks noGrp="1"/>
          </p:cNvSpPr>
          <p:nvPr/>
        </p:nvSpPr>
        <p:spPr>
          <a:xfrm>
            <a:off x="7124700" y="47434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B7280"/>
                </a:solidFill>
              </a:defRPr>
            </a:pPr>
            <a:r>
              <a:rPr sz="1275" b="0">
                <a:solidFill>
                  <a:srgbClr val="5B7280"/>
                </a:solidFill>
              </a:rPr>
              <a:t>공개 보행로 참여에만 배지를 부여합니다. 제보·발견에는 보상하지 않습니다.</a:t>
            </a:r>
          </a:p>
        </p:txBody>
      </p:sp>
      <p:sp>
        <p:nvSpPr>
          <p:cNvPr id="25" name="직선 연결선[R] 24">
            <a:extLst>
              <a:ext uri="{FF2B5EF4-FFF2-40B4-BE49-F238E27FC236}">
                <a16:creationId xmlns:a16="http://schemas.microsoft.com/office/drawing/2014/main" id="{1B8EC30E-B2F1-4E5F-B463-8648BFF89F2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27D0A5-ECEB-4B33-BE20-B1C6DF0BED87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611FE8-865D-4B8F-AB26-56D55692941F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5/9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C1324A6E-03EE-4105-BE19-B3F0F044DED5}"/>
              </a:ext>
            </a:extLst>
          </p:cNvPr>
          <p:cNvSpPr>
            <a:spLocks noGrp="1"/>
          </p:cNvSpPr>
          <p:nvPr/>
        </p:nvSpPr>
        <p:spPr>
          <a:xfrm>
            <a:off x="5191125" y="2095500"/>
            <a:ext cx="5905500" cy="3429000"/>
          </a:xfrm>
          <a:prstGeom prst="roundRect">
            <a:avLst>
              <a:gd name="adj" fmla="val 3333"/>
            </a:avLst>
          </a:prstGeom>
          <a:solidFill>
            <a:srgbClr val="F7FAFB"/>
          </a:solidFill>
          <a:ln w="9525">
            <a:solidFill>
              <a:srgbClr val="F7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D9F8AFFE-D351-44F6-B11F-D5F91A87CF3A}"/>
              </a:ext>
            </a:extLst>
          </p:cNvPr>
          <p:cNvSpPr>
            <a:spLocks noGrp="1"/>
          </p:cNvSpPr>
          <p:nvPr/>
        </p:nvSpPr>
        <p:spPr>
          <a:xfrm>
            <a:off x="5381625" y="2286000"/>
            <a:ext cx="5429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5FD59B5-A79D-4FBB-9835-81FE59657AE6}"/>
              </a:ext>
            </a:extLst>
          </p:cNvPr>
          <p:cNvSpPr>
            <a:spLocks noGrp="1"/>
          </p:cNvSpPr>
          <p:nvPr/>
        </p:nvSpPr>
        <p:spPr>
          <a:xfrm>
            <a:off x="5638800" y="24384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293A"/>
                </a:solidFill>
              </a:defRPr>
            </a:pPr>
            <a:r>
              <a:rPr sz="1500" b="1">
                <a:solidFill>
                  <a:srgbClr val="11293A"/>
                </a:solidFill>
              </a:rPr>
              <a:t>AI 인상착의 이미지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C4F8028-4575-48EA-8C12-630944908DE5}"/>
              </a:ext>
            </a:extLst>
          </p:cNvPr>
          <p:cNvSpPr>
            <a:spLocks noGrp="1"/>
          </p:cNvSpPr>
          <p:nvPr/>
        </p:nvSpPr>
        <p:spPr>
          <a:xfrm>
            <a:off x="7524750" y="24193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옷·소지품·특징을 직관적인 참고 이미지로 보여줍니다.</a:t>
            </a: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FE5DC4E6-3979-47E1-BFC6-DF39556A7F06}"/>
              </a:ext>
            </a:extLst>
          </p:cNvPr>
          <p:cNvSpPr>
            <a:spLocks noGrp="1"/>
          </p:cNvSpPr>
          <p:nvPr/>
        </p:nvSpPr>
        <p:spPr>
          <a:xfrm>
            <a:off x="5381625" y="3286125"/>
            <a:ext cx="5429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74E60E6-AB87-48D4-BF3F-BE17926D956A}"/>
              </a:ext>
            </a:extLst>
          </p:cNvPr>
          <p:cNvSpPr>
            <a:spLocks noGrp="1"/>
          </p:cNvSpPr>
          <p:nvPr/>
        </p:nvSpPr>
        <p:spPr>
          <a:xfrm>
            <a:off x="5638800" y="34385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EE7567"/>
                </a:solidFill>
              </a:defRPr>
            </a:pPr>
            <a:r>
              <a:rPr sz="1500" b="1">
                <a:solidFill>
                  <a:srgbClr val="EE7567"/>
                </a:solidFill>
              </a:rPr>
              <a:t>직접 신고 연계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2B1BE42-162B-441C-8544-3116B955219F}"/>
              </a:ext>
            </a:extLst>
          </p:cNvPr>
          <p:cNvSpPr>
            <a:spLocks noGrp="1"/>
          </p:cNvSpPr>
          <p:nvPr/>
        </p:nvSpPr>
        <p:spPr>
          <a:xfrm>
            <a:off x="7524750" y="3419475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112 전화 또는 문자 신고로 바로 연결합니다.</a:t>
            </a: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EAF5CB0-8095-4660-8C72-B60E2CEE77E1}"/>
              </a:ext>
            </a:extLst>
          </p:cNvPr>
          <p:cNvSpPr>
            <a:spLocks noGrp="1"/>
          </p:cNvSpPr>
          <p:nvPr/>
        </p:nvSpPr>
        <p:spPr>
          <a:xfrm>
            <a:off x="5381625" y="4286250"/>
            <a:ext cx="5429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7F9B142-B1B5-4FC7-B8CB-7EA15157B493}"/>
              </a:ext>
            </a:extLst>
          </p:cNvPr>
          <p:cNvSpPr>
            <a:spLocks noGrp="1"/>
          </p:cNvSpPr>
          <p:nvPr/>
        </p:nvSpPr>
        <p:spPr>
          <a:xfrm>
            <a:off x="5638800" y="4438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293A"/>
                </a:solidFill>
              </a:defRPr>
            </a:pPr>
            <a:r>
              <a:rPr sz="1500" b="1">
                <a:solidFill>
                  <a:srgbClr val="11293A"/>
                </a:solidFill>
              </a:rPr>
              <a:t>안전한 행동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32700B2-49DD-4550-8D21-3562872322D0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직접 추적이 아니라 안전한 거리에서 신고하도록 안내합니다.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A7894A11-C25F-F4F0-C296-0EC2154A0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910" y="1255930"/>
            <a:ext cx="2762465" cy="493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9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9B471-F8DB-47A2-1473-CEA0275A2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D7192432-BDA6-EE78-54DC-018FE5FCC03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BFA6"/>
                </a:solidFill>
              </a:defRPr>
            </a:pPr>
            <a:r>
              <a:rPr sz="975" b="1">
                <a:solidFill>
                  <a:srgbClr val="36BFA6"/>
                </a:solidFill>
              </a:rPr>
              <a:t>NEARFIND / 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C8795C-8C4C-FA3A-A5F0-D1AB0636FBAC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0D3148"/>
                </a:solidFill>
              </a:defRPr>
            </a:pPr>
            <a:r>
              <a:rPr sz="2775" b="1" dirty="0">
                <a:solidFill>
                  <a:srgbClr val="0D3148"/>
                </a:solidFill>
              </a:rPr>
              <a:t>MVP </a:t>
            </a:r>
            <a:r>
              <a:rPr sz="2775" b="1" dirty="0" err="1">
                <a:solidFill>
                  <a:srgbClr val="0D3148"/>
                </a:solidFill>
              </a:rPr>
              <a:t>화면</a:t>
            </a:r>
            <a:r>
              <a:rPr sz="2775" b="1" dirty="0">
                <a:solidFill>
                  <a:srgbClr val="0D3148"/>
                </a:solidFill>
              </a:rPr>
              <a:t> </a:t>
            </a:r>
            <a:r>
              <a:rPr lang="en-US" altLang="ko-KR" sz="2775" b="1" dirty="0">
                <a:solidFill>
                  <a:srgbClr val="0D3148"/>
                </a:solidFill>
              </a:rPr>
              <a:t>③</a:t>
            </a:r>
            <a:endParaRPr sz="2775" b="1" dirty="0">
              <a:solidFill>
                <a:srgbClr val="0D3148"/>
              </a:solidFill>
            </a:endParaRPr>
          </a:p>
        </p:txBody>
      </p:sp>
      <p:sp>
        <p:nvSpPr>
          <p:cNvPr id="25" name="직선 연결선[R] 24">
            <a:extLst>
              <a:ext uri="{FF2B5EF4-FFF2-40B4-BE49-F238E27FC236}">
                <a16:creationId xmlns:a16="http://schemas.microsoft.com/office/drawing/2014/main" id="{FE72CE5C-E583-1464-B660-C7B3E355C09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E0CBF89-806F-28EB-CF33-8B6ECB5A946D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F9EA6FF-8176-AE5A-451B-2B1A94BA4818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5/9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1A9613-4C4F-4F8D-637A-1BBCF9627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060" y="400050"/>
            <a:ext cx="3114890" cy="592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3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5CB36B-AB05-4E2F-9804-74348856547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36BFA6"/>
                </a:solidFill>
              </a:defRPr>
            </a:pPr>
            <a:r>
              <a:rPr sz="1125" b="1">
                <a:solidFill>
                  <a:srgbClr val="36BFA6"/>
                </a:solidFill>
              </a:rPr>
              <a:t>NEARFIND · PUBLIC SAFETY PLATFORM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398244-5C7F-4FC0-84D8-F9ACA25356D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525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경찰의 공식 경보를</a:t>
            </a:r>
          </a:p>
          <a:p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시민의 현장 인지와 연결합니다.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1042397E-B4E0-449D-B057-62A74147403B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2762250" cy="0"/>
          </a:xfrm>
          <a:prstGeom prst="line">
            <a:avLst/>
          </a:prstGeom>
          <a:noFill/>
          <a:ln w="19050">
            <a:solidFill>
              <a:srgbClr val="3B62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F1546E-8D80-495B-91D5-6BF209B12508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6BFA6"/>
                </a:solidFill>
              </a:defRPr>
            </a:pPr>
            <a:r>
              <a:rPr sz="1725" b="1">
                <a:solidFill>
                  <a:srgbClr val="36BFA6"/>
                </a:solidFill>
              </a:rPr>
              <a:t>경찰청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311640-F310-4CA9-A8A6-0E6CAA813EA2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276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공식 경보의 도달 정확도와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제보 전환을 보완</a:t>
            </a:r>
          </a:p>
        </p:txBody>
      </p:sp>
      <p:sp>
        <p:nvSpPr>
          <p:cNvPr id="6" name="직선 연결선[R] 5">
            <a:extLst>
              <a:ext uri="{FF2B5EF4-FFF2-40B4-BE49-F238E27FC236}">
                <a16:creationId xmlns:a16="http://schemas.microsoft.com/office/drawing/2014/main" id="{C92DE6AD-5C0F-42E0-A08E-979D9EF92AE6}"/>
              </a:ext>
            </a:extLst>
          </p:cNvPr>
          <p:cNvSpPr>
            <a:spLocks noGrp="1"/>
          </p:cNvSpPr>
          <p:nvPr/>
        </p:nvSpPr>
        <p:spPr>
          <a:xfrm>
            <a:off x="4210050" y="3619500"/>
            <a:ext cx="2762250" cy="0"/>
          </a:xfrm>
          <a:prstGeom prst="line">
            <a:avLst/>
          </a:prstGeom>
          <a:noFill/>
          <a:ln w="19050">
            <a:solidFill>
              <a:srgbClr val="3B62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AD2391-3345-4F1C-B5E9-2FCC652E427B}"/>
              </a:ext>
            </a:extLst>
          </p:cNvPr>
          <p:cNvSpPr>
            <a:spLocks noGrp="1"/>
          </p:cNvSpPr>
          <p:nvPr/>
        </p:nvSpPr>
        <p:spPr>
          <a:xfrm>
            <a:off x="4210050" y="39433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6BFA6"/>
                </a:solidFill>
              </a:defRPr>
            </a:pPr>
            <a:r>
              <a:rPr sz="1725" b="1">
                <a:solidFill>
                  <a:srgbClr val="36BFA6"/>
                </a:solidFill>
              </a:rPr>
              <a:t>지자체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926443-5677-47F2-AC3B-59B447B837BE}"/>
              </a:ext>
            </a:extLst>
          </p:cNvPr>
          <p:cNvSpPr>
            <a:spLocks noGrp="1"/>
          </p:cNvSpPr>
          <p:nvPr/>
        </p:nvSpPr>
        <p:spPr>
          <a:xfrm>
            <a:off x="4210050" y="4362450"/>
            <a:ext cx="276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지역 안전앱·걷기 사업과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공익 참여 모델 연계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4E0ABF98-9C2A-4141-BC2E-88D25A0D8A2F}"/>
              </a:ext>
            </a:extLst>
          </p:cNvPr>
          <p:cNvSpPr>
            <a:spLocks noGrp="1"/>
          </p:cNvSpPr>
          <p:nvPr/>
        </p:nvSpPr>
        <p:spPr>
          <a:xfrm>
            <a:off x="7734300" y="3619500"/>
            <a:ext cx="2762250" cy="0"/>
          </a:xfrm>
          <a:prstGeom prst="line">
            <a:avLst/>
          </a:prstGeom>
          <a:noFill/>
          <a:ln w="19050">
            <a:solidFill>
              <a:srgbClr val="3B62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97E7FE-0EC0-44B0-86D7-51E49F4C3884}"/>
              </a:ext>
            </a:extLst>
          </p:cNvPr>
          <p:cNvSpPr>
            <a:spLocks noGrp="1"/>
          </p:cNvSpPr>
          <p:nvPr/>
        </p:nvSpPr>
        <p:spPr>
          <a:xfrm>
            <a:off x="7734300" y="39433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6BFA6"/>
                </a:solidFill>
              </a:defRPr>
            </a:pPr>
            <a:r>
              <a:rPr sz="1725" b="1">
                <a:solidFill>
                  <a:srgbClr val="36BFA6"/>
                </a:solidFill>
              </a:rPr>
              <a:t>시민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F12D71-B3C7-4782-8A61-32483F314BA8}"/>
              </a:ext>
            </a:extLst>
          </p:cNvPr>
          <p:cNvSpPr>
            <a:spLocks noGrp="1"/>
          </p:cNvSpPr>
          <p:nvPr/>
        </p:nvSpPr>
        <p:spPr>
          <a:xfrm>
            <a:off x="7734300" y="4362450"/>
            <a:ext cx="276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필요한 순간에만 받고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안전하게 신고에 참여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E915E7-A3FD-4264-BF89-FDB85566236D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C8E6E2"/>
                </a:solidFill>
              </a:defRPr>
            </a:pPr>
            <a:r>
              <a:rPr sz="1500" b="1">
                <a:solidFill>
                  <a:srgbClr val="C8E6E2"/>
                </a:solidFill>
              </a:rPr>
              <a:t>사람을 찾는 AI가 아니라, 중요한 초기 시간에 사람과 공공 구조망을 연결하는 AI.</a:t>
            </a:r>
          </a:p>
        </p:txBody>
      </p:sp>
      <p:sp>
        <p:nvSpPr>
          <p:cNvPr id="13" name="직선 연결선[R] 12">
            <a:extLst>
              <a:ext uri="{FF2B5EF4-FFF2-40B4-BE49-F238E27FC236}">
                <a16:creationId xmlns:a16="http://schemas.microsoft.com/office/drawing/2014/main" id="{971F8BA6-308C-461F-9EB8-7FF6BC532B3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22F479-5B4D-4398-984C-96284021A00A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3900C5-2CFF-4719-80D1-FBA2FE46D8F3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210884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8E8BCC-8C48-4FB8-94A4-41C2F38C8F8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BFA6"/>
                </a:solidFill>
              </a:defRPr>
            </a:pPr>
            <a:r>
              <a:rPr sz="975" b="1">
                <a:solidFill>
                  <a:srgbClr val="36BFA6"/>
                </a:solidFill>
              </a:rPr>
              <a:t>NEARFIND / 08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65D52F-C819-41E3-89AC-98A4CFEF8843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0D3148"/>
                </a:solidFill>
              </a:defRPr>
            </a:pPr>
            <a:r>
              <a:rPr sz="2775" b="1">
                <a:solidFill>
                  <a:srgbClr val="0D3148"/>
                </a:solidFill>
              </a:rPr>
              <a:t>추후 확장: 안전한 공익 참여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4F0975-673F-4CA5-B450-ACA7BE8E97E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7280"/>
                </a:solidFill>
              </a:defRPr>
            </a:pPr>
            <a:r>
              <a:rPr sz="1350" b="0">
                <a:solidFill>
                  <a:srgbClr val="5B7280"/>
                </a:solidFill>
              </a:rPr>
              <a:t>크레딧은 MVP 핵심 기능이 아닙니다. 알림과 신고 연계 이후 검토할 선택 기능입니다.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3A4401B-2E0F-4C5B-BB5B-E339E1274CA2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0820400" cy="762000"/>
          </a:xfrm>
          <a:prstGeom prst="roundRect">
            <a:avLst>
              <a:gd name="adj" fmla="val 20000"/>
            </a:avLst>
          </a:prstGeom>
          <a:solidFill>
            <a:srgbClr val="0D3148"/>
          </a:solidFill>
          <a:ln w="9525">
            <a:solidFill>
              <a:srgbClr val="0D31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21375E-EB3E-4A23-B63C-1AB7D8674BC5}"/>
              </a:ext>
            </a:extLst>
          </p:cNvPr>
          <p:cNvSpPr>
            <a:spLocks noGrp="1"/>
          </p:cNvSpPr>
          <p:nvPr/>
        </p:nvSpPr>
        <p:spPr>
          <a:xfrm>
            <a:off x="1000125" y="23241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36BFA6"/>
                </a:solidFill>
              </a:defRPr>
            </a:pPr>
            <a:r>
              <a:rPr sz="1650" b="1">
                <a:solidFill>
                  <a:srgbClr val="36BFA6"/>
                </a:solidFill>
              </a:rPr>
              <a:t>MVP의 우선순위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AD76B4-116E-477E-96CC-B77ABCA036FF}"/>
              </a:ext>
            </a:extLst>
          </p:cNvPr>
          <p:cNvSpPr>
            <a:spLocks noGrp="1"/>
          </p:cNvSpPr>
          <p:nvPr/>
        </p:nvSpPr>
        <p:spPr>
          <a:xfrm>
            <a:off x="3619500" y="2305050"/>
            <a:ext cx="704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인상착의 이미지  ·  근처 알림  ·  112 전화·문자 신고 연계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BC087F7-4DFE-4EEA-94F1-ADE63DA1BBEF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2575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1485A92-0088-4E2F-BD36-A9EC4BABEF7A}"/>
              </a:ext>
            </a:extLst>
          </p:cNvPr>
          <p:cNvSpPr>
            <a:spLocks noGrp="1"/>
          </p:cNvSpPr>
          <p:nvPr/>
        </p:nvSpPr>
        <p:spPr>
          <a:xfrm>
            <a:off x="952500" y="3600450"/>
            <a:ext cx="285750" cy="285750"/>
          </a:xfrm>
          <a:prstGeom prst="ellipse">
            <a:avLst/>
          </a:prstGeom>
          <a:solidFill>
            <a:srgbClr val="36BFA6"/>
          </a:solidFill>
          <a:ln w="0">
            <a:solidFill>
              <a:srgbClr val="36B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898126-5A6F-44AE-AE45-0D0163232529}"/>
              </a:ext>
            </a:extLst>
          </p:cNvPr>
          <p:cNvSpPr>
            <a:spLocks noGrp="1"/>
          </p:cNvSpPr>
          <p:nvPr/>
        </p:nvSpPr>
        <p:spPr>
          <a:xfrm>
            <a:off x="952500" y="36004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D3148"/>
                </a:solidFill>
              </a:defRPr>
            </a:pPr>
            <a:r>
              <a:rPr sz="1050" b="1">
                <a:solidFill>
                  <a:srgbClr val="0D3148"/>
                </a:solidFill>
              </a:rPr>
              <a:t>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68C33A-A332-4193-A361-3E0286E0C5BF}"/>
              </a:ext>
            </a:extLst>
          </p:cNvPr>
          <p:cNvSpPr>
            <a:spLocks noGrp="1"/>
          </p:cNvSpPr>
          <p:nvPr/>
        </p:nvSpPr>
        <p:spPr>
          <a:xfrm>
            <a:off x="952500" y="40100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알림 열기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9D245E-7965-4176-AA66-D2C633FE9BB5}"/>
              </a:ext>
            </a:extLst>
          </p:cNvPr>
          <p:cNvSpPr>
            <a:spLocks noGrp="1"/>
          </p:cNvSpPr>
          <p:nvPr/>
        </p:nvSpPr>
        <p:spPr>
          <a:xfrm>
            <a:off x="952500" y="43529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실종 안내와 AI 참고 이미지를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3A1746-DFB7-4BC5-8CCB-F87D743733DE}"/>
              </a:ext>
            </a:extLst>
          </p:cNvPr>
          <p:cNvSpPr>
            <a:spLocks noGrp="1"/>
          </p:cNvSpPr>
          <p:nvPr/>
        </p:nvSpPr>
        <p:spPr>
          <a:xfrm>
            <a:off x="3971925" y="3829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4E05139-A0B6-49F6-BC60-D1D1D7BA4E8A}"/>
              </a:ext>
            </a:extLst>
          </p:cNvPr>
          <p:cNvSpPr>
            <a:spLocks noGrp="1"/>
          </p:cNvSpPr>
          <p:nvPr/>
        </p:nvSpPr>
        <p:spPr>
          <a:xfrm>
            <a:off x="4324350" y="3333750"/>
            <a:ext cx="32575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AD4CC5B-1725-4893-AB78-8615005EA7E3}"/>
              </a:ext>
            </a:extLst>
          </p:cNvPr>
          <p:cNvSpPr>
            <a:spLocks noGrp="1"/>
          </p:cNvSpPr>
          <p:nvPr/>
        </p:nvSpPr>
        <p:spPr>
          <a:xfrm>
            <a:off x="4591050" y="3600450"/>
            <a:ext cx="285750" cy="285750"/>
          </a:xfrm>
          <a:prstGeom prst="ellipse">
            <a:avLst/>
          </a:prstGeom>
          <a:solidFill>
            <a:srgbClr val="36BFA6"/>
          </a:solidFill>
          <a:ln w="0">
            <a:solidFill>
              <a:srgbClr val="36B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41B60E-A6C1-43C6-8F4C-E68A1D08EB9A}"/>
              </a:ext>
            </a:extLst>
          </p:cNvPr>
          <p:cNvSpPr>
            <a:spLocks noGrp="1"/>
          </p:cNvSpPr>
          <p:nvPr/>
        </p:nvSpPr>
        <p:spPr>
          <a:xfrm>
            <a:off x="4591050" y="36004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D3148"/>
                </a:solidFill>
              </a:defRPr>
            </a:pPr>
            <a:r>
              <a:rPr sz="1050" b="1">
                <a:solidFill>
                  <a:srgbClr val="0D3148"/>
                </a:solidFill>
              </a:rPr>
              <a:t>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655ED8-D022-47E7-819C-9BFDEE53FFA9}"/>
              </a:ext>
            </a:extLst>
          </p:cNvPr>
          <p:cNvSpPr>
            <a:spLocks noGrp="1"/>
          </p:cNvSpPr>
          <p:nvPr/>
        </p:nvSpPr>
        <p:spPr>
          <a:xfrm>
            <a:off x="4591050" y="40100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안전수칙 확인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37833D-A5F4-4965-93D7-3A0C5D6DEC1C}"/>
              </a:ext>
            </a:extLst>
          </p:cNvPr>
          <p:cNvSpPr>
            <a:spLocks noGrp="1"/>
          </p:cNvSpPr>
          <p:nvPr/>
        </p:nvSpPr>
        <p:spPr>
          <a:xfrm>
            <a:off x="4591050" y="43529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직접 추적 금지·신고 우선 원칙 재확인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DB1B88-0A45-4E8F-BC2E-2D05B7348669}"/>
              </a:ext>
            </a:extLst>
          </p:cNvPr>
          <p:cNvSpPr>
            <a:spLocks noGrp="1"/>
          </p:cNvSpPr>
          <p:nvPr/>
        </p:nvSpPr>
        <p:spPr>
          <a:xfrm>
            <a:off x="7610475" y="3829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36BFA6"/>
                </a:solidFill>
              </a:defRPr>
            </a:pPr>
            <a:r>
              <a:rPr sz="1950" b="1">
                <a:solidFill>
                  <a:srgbClr val="36BFA6"/>
                </a:solidFill>
              </a:rPr>
              <a:t>→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6132769-0BEC-4B31-80C5-7830591D2669}"/>
              </a:ext>
            </a:extLst>
          </p:cNvPr>
          <p:cNvSpPr>
            <a:spLocks noGrp="1"/>
          </p:cNvSpPr>
          <p:nvPr/>
        </p:nvSpPr>
        <p:spPr>
          <a:xfrm>
            <a:off x="7962900" y="3333750"/>
            <a:ext cx="32575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DEA97F8-6A77-4400-B104-E04B972256D2}"/>
              </a:ext>
            </a:extLst>
          </p:cNvPr>
          <p:cNvSpPr>
            <a:spLocks noGrp="1"/>
          </p:cNvSpPr>
          <p:nvPr/>
        </p:nvSpPr>
        <p:spPr>
          <a:xfrm>
            <a:off x="8229600" y="3600450"/>
            <a:ext cx="285750" cy="285750"/>
          </a:xfrm>
          <a:prstGeom prst="ellipse">
            <a:avLst/>
          </a:prstGeom>
          <a:solidFill>
            <a:srgbClr val="36BFA6"/>
          </a:solidFill>
          <a:ln w="0">
            <a:solidFill>
              <a:srgbClr val="36BF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1A8224-2D10-4FCA-9A4F-86B485D0CDA6}"/>
              </a:ext>
            </a:extLst>
          </p:cNvPr>
          <p:cNvSpPr>
            <a:spLocks noGrp="1"/>
          </p:cNvSpPr>
          <p:nvPr/>
        </p:nvSpPr>
        <p:spPr>
          <a:xfrm>
            <a:off x="8229600" y="36004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D3148"/>
                </a:solidFill>
              </a:defRPr>
            </a:pPr>
            <a:r>
              <a:rPr sz="1050" b="1">
                <a:solidFill>
                  <a:srgbClr val="0D3148"/>
                </a:solidFill>
              </a:rPr>
              <a:t>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2E937C-23B4-44AA-BAEC-A054A211DDFC}"/>
              </a:ext>
            </a:extLst>
          </p:cNvPr>
          <p:cNvSpPr>
            <a:spLocks noGrp="1"/>
          </p:cNvSpPr>
          <p:nvPr/>
        </p:nvSpPr>
        <p:spPr>
          <a:xfrm>
            <a:off x="8229600" y="40100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D3148"/>
                </a:solidFill>
              </a:defRPr>
            </a:pPr>
            <a:r>
              <a:rPr sz="1650" b="1">
                <a:solidFill>
                  <a:srgbClr val="0D3148"/>
                </a:solidFill>
              </a:rPr>
              <a:t>공익 참여 인정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45F700-F12B-46D5-AB14-9600740BA53E}"/>
              </a:ext>
            </a:extLst>
          </p:cNvPr>
          <p:cNvSpPr>
            <a:spLocks noGrp="1"/>
          </p:cNvSpPr>
          <p:nvPr/>
        </p:nvSpPr>
        <p:spPr>
          <a:xfrm>
            <a:off x="8229600" y="43529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7280"/>
                </a:solidFill>
              </a:defRPr>
            </a:pPr>
            <a:r>
              <a:rPr sz="1200" b="0">
                <a:solidFill>
                  <a:srgbClr val="5B7280"/>
                </a:solidFill>
              </a:rPr>
              <a:t>추후 배지·지역 정책 연계 혜택 검토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C6D2E385-BD3F-44D1-8932-63C863D1B350}"/>
              </a:ext>
            </a:extLst>
          </p:cNvPr>
          <p:cNvSpPr>
            <a:spLocks noGrp="1"/>
          </p:cNvSpPr>
          <p:nvPr/>
        </p:nvSpPr>
        <p:spPr>
          <a:xfrm>
            <a:off x="1524000" y="5286375"/>
            <a:ext cx="9144000" cy="419100"/>
          </a:xfrm>
          <a:prstGeom prst="roundRect">
            <a:avLst>
              <a:gd name="adj" fmla="val 27273"/>
            </a:avLst>
          </a:prstGeom>
          <a:solidFill>
            <a:srgbClr val="FFF0ED"/>
          </a:solidFill>
          <a:ln w="9525">
            <a:solidFill>
              <a:srgbClr val="FFF0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524906-5207-4ACE-9CE3-014BD489A672}"/>
              </a:ext>
            </a:extLst>
          </p:cNvPr>
          <p:cNvSpPr>
            <a:spLocks noGrp="1"/>
          </p:cNvSpPr>
          <p:nvPr/>
        </p:nvSpPr>
        <p:spPr>
          <a:xfrm>
            <a:off x="1524000" y="5286375"/>
            <a:ext cx="914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EE7567"/>
                </a:solidFill>
              </a:defRPr>
            </a:pPr>
            <a:r>
              <a:rPr sz="1350" b="1">
                <a:solidFill>
                  <a:srgbClr val="EE7567"/>
                </a:solidFill>
              </a:rPr>
              <a:t>발견·제보·사진 제출에는 보상하지 않습니다. 허위 제보와 위험한 행동을 막기 위한 원칙입니다.</a:t>
            </a:r>
          </a:p>
        </p:txBody>
      </p:sp>
      <p:sp>
        <p:nvSpPr>
          <p:cNvPr id="26" name="직선 연결선[R] 25">
            <a:extLst>
              <a:ext uri="{FF2B5EF4-FFF2-40B4-BE49-F238E27FC236}">
                <a16:creationId xmlns:a16="http://schemas.microsoft.com/office/drawing/2014/main" id="{20F9AD70-6FE1-4D3A-8F0E-E99900BD423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220367C-C51D-48A5-8FFE-2CCC98C39F9B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C35F21-2A42-4322-8E1A-1D1542DC926C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1575971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3FF929-0A89-4D0F-A93B-79EBCA06938D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36BFA6"/>
                </a:solidFill>
              </a:defRPr>
            </a:pPr>
            <a:r>
              <a:rPr sz="1125" b="1">
                <a:solidFill>
                  <a:srgbClr val="36BFA6"/>
                </a:solidFill>
              </a:rPr>
              <a:t>NEARFIND / CONCLUSION · 13팀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B1C34B-CCB4-4962-8C05-82178C4C79C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0012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사람을 찾는 AI가 아니라,</a:t>
            </a:r>
          </a:p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사람과 공공 구조망을 연결하는 AI.</a:t>
            </a:r>
          </a:p>
        </p:txBody>
      </p:sp>
      <p:sp>
        <p:nvSpPr>
          <p:cNvPr id="3" name="직선 연결선[R] 2">
            <a:extLst>
              <a:ext uri="{FF2B5EF4-FFF2-40B4-BE49-F238E27FC236}">
                <a16:creationId xmlns:a16="http://schemas.microsoft.com/office/drawing/2014/main" id="{B9BE306A-AA99-4C10-94EA-52D7A6F375BF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762250" cy="0"/>
          </a:xfrm>
          <a:prstGeom prst="line">
            <a:avLst/>
          </a:prstGeom>
          <a:noFill/>
          <a:ln w="19050">
            <a:solidFill>
              <a:srgbClr val="3B62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989772-B031-4CAA-8EEA-E8198CDCDEA4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6BFA6"/>
                </a:solidFill>
              </a:defRPr>
            </a:pPr>
            <a:r>
              <a:rPr sz="1725" b="1">
                <a:solidFill>
                  <a:srgbClr val="36BFA6"/>
                </a:solidFill>
              </a:rPr>
              <a:t>더 잘 알아보게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2B3174-0C82-405A-9FBB-BF04F4DC320E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276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인상착의 문장을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직관적인 AI 참고 이미지로</a:t>
            </a:r>
          </a:p>
        </p:txBody>
      </p:sp>
      <p:sp>
        <p:nvSpPr>
          <p:cNvPr id="6" name="직선 연결선[R] 5">
            <a:extLst>
              <a:ext uri="{FF2B5EF4-FFF2-40B4-BE49-F238E27FC236}">
                <a16:creationId xmlns:a16="http://schemas.microsoft.com/office/drawing/2014/main" id="{493F9323-D0B2-459C-B8A9-1932BD31868C}"/>
              </a:ext>
            </a:extLst>
          </p:cNvPr>
          <p:cNvSpPr>
            <a:spLocks noGrp="1"/>
          </p:cNvSpPr>
          <p:nvPr/>
        </p:nvSpPr>
        <p:spPr>
          <a:xfrm>
            <a:off x="4210050" y="3905250"/>
            <a:ext cx="2762250" cy="0"/>
          </a:xfrm>
          <a:prstGeom prst="line">
            <a:avLst/>
          </a:prstGeom>
          <a:noFill/>
          <a:ln w="19050">
            <a:solidFill>
              <a:srgbClr val="3B62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768AC5-B7F5-44BE-A291-32998B153202}"/>
              </a:ext>
            </a:extLst>
          </p:cNvPr>
          <p:cNvSpPr>
            <a:spLocks noGrp="1"/>
          </p:cNvSpPr>
          <p:nvPr/>
        </p:nvSpPr>
        <p:spPr>
          <a:xfrm>
            <a:off x="4210050" y="42195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6BFA6"/>
                </a:solidFill>
              </a:defRPr>
            </a:pPr>
            <a:r>
              <a:rPr sz="1725" b="1">
                <a:solidFill>
                  <a:srgbClr val="36BFA6"/>
                </a:solidFill>
              </a:rPr>
              <a:t>더 필요한 순간에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367D76-366D-441B-B75E-1BA040BF3BA8}"/>
              </a:ext>
            </a:extLst>
          </p:cNvPr>
          <p:cNvSpPr>
            <a:spLocks noGrp="1"/>
          </p:cNvSpPr>
          <p:nvPr/>
        </p:nvSpPr>
        <p:spPr>
          <a:xfrm>
            <a:off x="4210050" y="4610100"/>
            <a:ext cx="276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마지막 확인 장소와 시간을 바탕으로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근처 시민에게만 알림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D810A6C9-4F2D-4867-A2FE-7015ED71FB42}"/>
              </a:ext>
            </a:extLst>
          </p:cNvPr>
          <p:cNvSpPr>
            <a:spLocks noGrp="1"/>
          </p:cNvSpPr>
          <p:nvPr/>
        </p:nvSpPr>
        <p:spPr>
          <a:xfrm>
            <a:off x="7734300" y="3905250"/>
            <a:ext cx="2762250" cy="0"/>
          </a:xfrm>
          <a:prstGeom prst="line">
            <a:avLst/>
          </a:prstGeom>
          <a:noFill/>
          <a:ln w="19050">
            <a:solidFill>
              <a:srgbClr val="3B62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F15905-37E3-45EF-AB4B-B8306B14DB86}"/>
              </a:ext>
            </a:extLst>
          </p:cNvPr>
          <p:cNvSpPr>
            <a:spLocks noGrp="1"/>
          </p:cNvSpPr>
          <p:nvPr/>
        </p:nvSpPr>
        <p:spPr>
          <a:xfrm>
            <a:off x="7734300" y="42195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36BFA6"/>
                </a:solidFill>
              </a:defRPr>
            </a:pPr>
            <a:r>
              <a:rPr sz="1725" b="1">
                <a:solidFill>
                  <a:srgbClr val="36BFA6"/>
                </a:solidFill>
              </a:rPr>
              <a:t>더 안전하게 행동하게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25A04B-7916-40C0-9613-A31C737E54FC}"/>
              </a:ext>
            </a:extLst>
          </p:cNvPr>
          <p:cNvSpPr>
            <a:spLocks noGrp="1"/>
          </p:cNvSpPr>
          <p:nvPr/>
        </p:nvSpPr>
        <p:spPr>
          <a:xfrm>
            <a:off x="7734300" y="4610100"/>
            <a:ext cx="276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112 전화·문자 신고로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공식 대응에 즉시 연결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745CBD-EBA5-4090-866D-D338334233A1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C8E6E2"/>
                </a:solidFill>
              </a:defRPr>
            </a:pPr>
            <a:r>
              <a:rPr sz="1425" b="1">
                <a:solidFill>
                  <a:srgbClr val="C8E6E2"/>
                </a:solidFill>
              </a:rPr>
              <a:t>NearFind · 잊히는 실종 문자를 행동 가능한 공공 안전망으로</a:t>
            </a:r>
          </a:p>
        </p:txBody>
      </p:sp>
      <p:sp>
        <p:nvSpPr>
          <p:cNvPr id="13" name="직선 연결선[R] 12">
            <a:extLst>
              <a:ext uri="{FF2B5EF4-FFF2-40B4-BE49-F238E27FC236}">
                <a16:creationId xmlns:a16="http://schemas.microsoft.com/office/drawing/2014/main" id="{72EA204D-40FD-4148-96F4-266E73BA7FC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6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D0AD68-F929-4D80-8DA7-E911A19E4F2C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542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NearFind · 위치·시간 맞춤형 실종 시민 제보망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C91D8A-73EF-4597-9334-3D7E64F6A5EB}"/>
              </a:ext>
            </a:extLst>
          </p:cNvPr>
          <p:cNvSpPr>
            <a:spLocks noGrp="1"/>
          </p:cNvSpPr>
          <p:nvPr/>
        </p:nvSpPr>
        <p:spPr>
          <a:xfrm>
            <a:off x="11049000" y="650557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0">
                <a:solidFill>
                  <a:srgbClr val="5B7280"/>
                </a:solidFill>
              </a:defRPr>
            </a:pPr>
            <a:r>
              <a:rPr sz="825" b="0">
                <a:solidFill>
                  <a:srgbClr val="5B7280"/>
                </a:solidFill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2328438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Macintosh PowerPoint</Application>
  <DocSecurity>0</DocSecurity>
  <PresentationFormat>와이드스크린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변유진(정치외교학과)</cp:lastModifiedBy>
  <cp:revision>1</cp:revision>
  <dcterms:created xsi:type="dcterms:W3CDTF">2026-08-16T07:16:13Z</dcterms:created>
  <dcterms:modified xsi:type="dcterms:W3CDTF">2026-08-16T08:30:07Z</dcterms:modified>
</cp:coreProperties>
</file>